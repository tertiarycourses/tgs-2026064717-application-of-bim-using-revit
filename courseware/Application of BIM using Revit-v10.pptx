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06" r:id="rId157"/>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8019288" y="2121408"/>
            <a:ext cx="3438144" cy="303363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001_img1.png"/>
          <p:cNvPicPr>
            <a:picLocks noChangeAspect="1"/>
          </p:cNvPicPr>
          <p:nvPr/>
        </p:nvPicPr>
        <p:blipFill>
          <a:blip r:embed="rId3"/>
          <a:stretch>
            <a:fillRect/>
          </a:stretch>
        </p:blipFill>
        <p:spPr>
          <a:xfrm>
            <a:off x="8092440" y="2194560"/>
            <a:ext cx="3291840" cy="2887334"/>
          </a:xfrm>
          <a:prstGeom prst="rect">
            <a:avLst/>
          </a:prstGeom>
        </p:spPr>
      </p:pic>
      <p:sp>
        <p:nvSpPr>
          <p:cNvPr id="8" name="TextBox 7"/>
          <p:cNvSpPr txBox="1"/>
          <p:nvPr/>
        </p:nvSpPr>
        <p:spPr>
          <a:xfrm>
            <a:off x="822960" y="2103120"/>
            <a:ext cx="77724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9" name="TextBox 8"/>
          <p:cNvSpPr txBox="1"/>
          <p:nvPr/>
        </p:nvSpPr>
        <p:spPr>
          <a:xfrm>
            <a:off x="822960" y="2606040"/>
            <a:ext cx="7863840" cy="1737360"/>
          </a:xfrm>
          <a:prstGeom prst="rect">
            <a:avLst/>
          </a:prstGeom>
          <a:noFill/>
        </p:spPr>
        <p:txBody>
          <a:bodyPr wrap="square" anchor="t">
            <a:spAutoFit/>
          </a:bodyPr>
          <a:lstStyle/>
          <a:p>
            <a:pPr algn="l">
              <a:spcAft>
                <a:spcPts val="400"/>
              </a:spcAft>
            </a:pPr>
            <a:r>
              <a:rPr sz="4000" b="1">
                <a:solidFill>
                  <a:srgbClr val="161B26"/>
                </a:solidFill>
                <a:latin typeface="Arial"/>
              </a:rPr>
              <a:t>Application of BIM using Revit</a:t>
            </a:r>
          </a:p>
        </p:txBody>
      </p:sp>
      <p:sp>
        <p:nvSpPr>
          <p:cNvPr id="10" name="Rectangle 9"/>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97680"/>
            <a:ext cx="7772400" cy="146304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TGS-2022015370</a:t>
            </a:r>
          </a:p>
          <a:p>
            <a:pPr algn="l">
              <a:spcAft>
                <a:spcPts val="600"/>
              </a:spcAft>
            </a:pPr>
            <a:r>
              <a:rPr sz="1300" b="0">
                <a:solidFill>
                  <a:srgbClr val="5B6372"/>
                </a:solidFill>
                <a:latin typeface="Arial"/>
              </a:rPr>
              <a:t>Skills Framework TSC: Building Information Modelling Application (BEV-TEM-3027-1.1-1)</a:t>
            </a:r>
          </a:p>
          <a:p>
            <a:pPr algn="l">
              <a:spcAft>
                <a:spcPts val="600"/>
              </a:spcAft>
            </a:pPr>
            <a:r>
              <a:rPr sz="1400" b="0">
                <a:solidFill>
                  <a:srgbClr val="5B6372"/>
                </a:solidFill>
                <a:latin typeface="Arial"/>
              </a:rPr>
              <a:t>Conducted by Tertiary Infotech Academy Pte Ltd  ·  UEN 201200696W</a:t>
            </a:r>
          </a:p>
        </p:txBody>
      </p:sp>
      <p:sp>
        <p:nvSpPr>
          <p:cNvPr id="12" name="TextBox 11"/>
          <p:cNvSpPr txBox="1"/>
          <p:nvPr/>
        </p:nvSpPr>
        <p:spPr>
          <a:xfrm>
            <a:off x="822960" y="589788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18 August 2026</a:t>
            </a:r>
          </a:p>
        </p:txBody>
      </p:sp>
      <p:sp>
        <p:nvSpPr>
          <p:cNvPr id="13" name="TextBox 12"/>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BIM and parametric design — Autodesk Revit, AutoCAD, Fusion 360 and engineering CAD/CAE toolchains.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BIM with Revit, architecture drawing, technical drawing and product design.</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CAD, Revit or the built-environment industry (if any).</a:t>
            </a:r>
          </a:p>
          <a:p>
            <a:pPr>
              <a:spcAft>
                <a:spcPts val="1000"/>
              </a:spcAft>
            </a:pPr>
            <a:r>
              <a:rPr sz="2000" b="0">
                <a:solidFill>
                  <a:srgbClr val="161B26"/>
                </a:solidFill>
                <a:latin typeface="Arial"/>
              </a:rPr>
              <a:t>•  What you want to be able to model, manage or submit with BIM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BIM fundamentals, Revit and BIM modeling</a:t>
            </a:r>
          </a:p>
          <a:p>
            <a:pPr>
              <a:spcAft>
                <a:spcPts val="1000"/>
              </a:spcAft>
            </a:pPr>
            <a:r>
              <a:rPr sz="1400" b="0">
                <a:solidFill>
                  <a:srgbClr val="5B6372"/>
                </a:solidFill>
                <a:latin typeface="Arial"/>
              </a:rPr>
              <a:t>–  Digital attendance (AM) · welcome &amp; introductions</a:t>
            </a:r>
          </a:p>
          <a:p>
            <a:pPr>
              <a:spcAft>
                <a:spcPts val="1000"/>
              </a:spcAft>
            </a:pPr>
            <a:r>
              <a:rPr sz="1400" b="0">
                <a:solidFill>
                  <a:srgbClr val="5B6372"/>
                </a:solidFill>
                <a:latin typeface="Arial"/>
              </a:rPr>
              <a:t>–  Topic 1: Introduction to BIM and Revit (Labs 1–2)</a:t>
            </a:r>
          </a:p>
          <a:p>
            <a:pPr>
              <a:spcAft>
                <a:spcPts val="1000"/>
              </a:spcAft>
            </a:pPr>
            <a:r>
              <a:rPr sz="1400" b="0">
                <a:solidFill>
                  <a:srgbClr val="5B6372"/>
                </a:solidFill>
                <a:latin typeface="Arial"/>
              </a:rPr>
              <a:t>–  Lunch · digital attendance (PM)</a:t>
            </a:r>
          </a:p>
          <a:p>
            <a:pPr>
              <a:spcAft>
                <a:spcPts val="1000"/>
              </a:spcAft>
            </a:pPr>
            <a:r>
              <a:rPr sz="1400" b="0">
                <a:solidFill>
                  <a:srgbClr val="5B6372"/>
                </a:solidFill>
                <a:latin typeface="Arial"/>
              </a:rPr>
              <a:t>–  Topic 2: BIM Modeling (Labs 3–6)</a:t>
            </a:r>
          </a:p>
          <a:p>
            <a:pPr>
              <a:spcAft>
                <a:spcPts val="1000"/>
              </a:spcAft>
            </a:pPr>
            <a:r>
              <a:rPr sz="1400" b="0">
                <a:solidFill>
                  <a:srgbClr val="5B6372"/>
                </a:solidFill>
                <a:latin typeface="Arial"/>
              </a:rPr>
              <a:t>–  Day 1 recap and Q&amp;A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BIM application, documentation and assessment</a:t>
            </a:r>
          </a:p>
          <a:p>
            <a:pPr>
              <a:spcAft>
                <a:spcPts val="1000"/>
              </a:spcAft>
            </a:pPr>
            <a:r>
              <a:rPr sz="1400" b="0">
                <a:solidFill>
                  <a:srgbClr val="5B6372"/>
                </a:solidFill>
                <a:latin typeface="Arial"/>
              </a:rPr>
              <a:t>–  Digital attendance (AM) · Day 1 recap</a:t>
            </a:r>
          </a:p>
          <a:p>
            <a:pPr>
              <a:spcAft>
                <a:spcPts val="1000"/>
              </a:spcAft>
            </a:pPr>
            <a:r>
              <a:rPr sz="1400" b="0">
                <a:solidFill>
                  <a:srgbClr val="5B6372"/>
                </a:solidFill>
                <a:latin typeface="Arial"/>
              </a:rPr>
              <a:t>–  Topic 3: BIM Application (Labs 7–8)</a:t>
            </a:r>
          </a:p>
          <a:p>
            <a:pPr>
              <a:spcAft>
                <a:spcPts val="1000"/>
              </a:spcAft>
            </a:pPr>
            <a:r>
              <a:rPr sz="1400" b="0">
                <a:solidFill>
                  <a:srgbClr val="5B6372"/>
                </a:solidFill>
                <a:latin typeface="Arial"/>
              </a:rPr>
              <a:t>–  Lunch · digital attendance (PM)</a:t>
            </a:r>
          </a:p>
          <a:p>
            <a:pPr>
              <a:spcAft>
                <a:spcPts val="1000"/>
              </a:spcAft>
            </a:pPr>
            <a:r>
              <a:rPr sz="1400" b="0">
                <a:solidFill>
                  <a:srgbClr val="5B6372"/>
                </a:solidFill>
                <a:latin typeface="Arial"/>
              </a:rPr>
              <a:t>–  Topic 4: BIM Documentation (Labs 9–10)</a:t>
            </a:r>
          </a:p>
          <a:p>
            <a:pPr>
              <a:spcAft>
                <a:spcPts val="1000"/>
              </a:spcAft>
            </a:pPr>
            <a:r>
              <a:rPr sz="1400" b="0">
                <a:solidFill>
                  <a:srgbClr val="5B6372"/>
                </a:solidFill>
                <a:latin typeface="Arial"/>
              </a:rPr>
              <a:t>–  Final Assessment: WA (SAQ) + Practical Performance</a:t>
            </a:r>
          </a:p>
          <a:p>
            <a:pPr>
              <a:spcAft>
                <a:spcPts val="1000"/>
              </a:spcAft>
            </a:pPr>
            <a:r>
              <a:rPr sz="1400" b="0">
                <a:solidFill>
                  <a:srgbClr val="5B6372"/>
                </a:solidFill>
                <a:latin typeface="Arial"/>
              </a:rPr>
              <a:t>–  Daily timing: 9:30am–6:30pm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a:t>
            </a:r>
          </a:p>
          <a:p>
            <a:pPr algn="l">
              <a:spcAft>
                <a:spcPts val="300"/>
              </a:spcAft>
            </a:pPr>
            <a:r>
              <a:rPr sz="1300" b="0">
                <a:solidFill>
                  <a:srgbClr val="5B6372"/>
                </a:solidFill>
                <a:latin typeface="Arial"/>
              </a:rPr>
              <a:t>Apply Revit for Building Information Modelling (BIM).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a:t>
            </a:r>
          </a:p>
          <a:p>
            <a:pPr algn="l">
              <a:spcAft>
                <a:spcPts val="300"/>
              </a:spcAft>
            </a:pPr>
            <a:r>
              <a:rPr sz="1300" b="0">
                <a:solidFill>
                  <a:srgbClr val="5B6372"/>
                </a:solidFill>
                <a:latin typeface="Arial"/>
              </a:rPr>
              <a:t>Develop models and integrate design for BIM.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a:t>
            </a:r>
          </a:p>
          <a:p>
            <a:pPr algn="l">
              <a:spcAft>
                <a:spcPts val="300"/>
              </a:spcAft>
            </a:pPr>
            <a:r>
              <a:rPr sz="1300" b="0">
                <a:solidFill>
                  <a:srgbClr val="5B6372"/>
                </a:solidFill>
                <a:latin typeface="Arial"/>
              </a:rPr>
              <a:t>Apply BIM and check the output.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a:t>
            </a:r>
          </a:p>
          <a:p>
            <a:pPr algn="l">
              <a:spcAft>
                <a:spcPts val="300"/>
              </a:spcAft>
            </a:pPr>
            <a:r>
              <a:rPr sz="1300" b="0">
                <a:solidFill>
                  <a:srgbClr val="5B6372"/>
                </a:solidFill>
                <a:latin typeface="Arial"/>
              </a:rPr>
              <a:t>Maintain BIM database and develop BIM documentation.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SKILLS FRAMEWORK ALIGNMENT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Skills Framework for the Built Environment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TSC: Building Information Modelling Application   ·   TSC Code: BEV-TEM-3027-1.1-1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BEV-TEM-3027-1.1-1 · KNOWLEDGE K1–K10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Knowledge — What the WA (SAQ) Assesses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Principles of BIM</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Value proposition of BIM</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Requirements of BIM</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Definition of BIM</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Application of BIM</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Technology used in BIM</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BIM design processes</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Documentation required for BIM</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Databases and information systems required for BIM</a:t>
            </a:r>
          </a:p>
        </p:txBody>
      </p:sp>
      <p:sp>
        <p:nvSpPr>
          <p:cNvPr id="52" name="Rectangle 51"/>
          <p:cNvSpPr/>
          <p:nvPr/>
        </p:nvSpPr>
        <p:spPr>
          <a:xfrm>
            <a:off x="6231636"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6994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87668" y="553760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7668"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7219188"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K10</a:t>
            </a:r>
          </a:p>
          <a:p>
            <a:pPr algn="l">
              <a:spcAft>
                <a:spcPts val="300"/>
              </a:spcAft>
            </a:pPr>
            <a:r>
              <a:rPr sz="1000" b="0">
                <a:solidFill>
                  <a:srgbClr val="5B6372"/>
                </a:solidFill>
                <a:latin typeface="Arial"/>
              </a:rPr>
              <a:t>BIM e-submission documentation requirements and standards</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BEV-TEM-3027-1.1-1 · ABILITIES A1–A9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Abilities — What the Practical Performance Assesses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Identify BIM application and development in industry</a:t>
            </a:r>
          </a:p>
        </p:txBody>
      </p:sp>
      <p:sp>
        <p:nvSpPr>
          <p:cNvPr id="12" name="Rectangle 11"/>
          <p:cNvSpPr/>
          <p:nvPr/>
        </p:nvSpPr>
        <p:spPr>
          <a:xfrm>
            <a:off x="6231636" y="178308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85074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BIM's interoperability with other analysis tools</a:t>
            </a:r>
          </a:p>
        </p:txBody>
      </p:sp>
      <p:sp>
        <p:nvSpPr>
          <p:cNvPr id="17" name="Rectangle 16"/>
          <p:cNvSpPr/>
          <p:nvPr/>
        </p:nvSpPr>
        <p:spPr>
          <a:xfrm>
            <a:off x="777240"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479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77246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Maintain databases and information systems for BIM</a:t>
            </a:r>
          </a:p>
        </p:txBody>
      </p:sp>
      <p:sp>
        <p:nvSpPr>
          <p:cNvPr id="22" name="Rectangle 21"/>
          <p:cNvSpPr/>
          <p:nvPr/>
        </p:nvSpPr>
        <p:spPr>
          <a:xfrm>
            <a:off x="6231636" y="270479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479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77246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3281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Develop models containing building elements and information</a:t>
            </a:r>
          </a:p>
        </p:txBody>
      </p:sp>
      <p:sp>
        <p:nvSpPr>
          <p:cNvPr id="27" name="Rectangle 26"/>
          <p:cNvSpPr/>
          <p:nvPr/>
        </p:nvSpPr>
        <p:spPr>
          <a:xfrm>
            <a:off x="777240"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2651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69417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Integrate the design of active systems in reference models</a:t>
            </a:r>
          </a:p>
        </p:txBody>
      </p:sp>
      <p:sp>
        <p:nvSpPr>
          <p:cNvPr id="32" name="Rectangle 31"/>
          <p:cNvSpPr/>
          <p:nvPr/>
        </p:nvSpPr>
        <p:spPr>
          <a:xfrm>
            <a:off x="6231636" y="362651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26510"/>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694175"/>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75452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Operate BIM applications and software</a:t>
            </a:r>
          </a:p>
        </p:txBody>
      </p:sp>
      <p:sp>
        <p:nvSpPr>
          <p:cNvPr id="37" name="Rectangle 36"/>
          <p:cNvSpPr/>
          <p:nvPr/>
        </p:nvSpPr>
        <p:spPr>
          <a:xfrm>
            <a:off x="777240"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48225"/>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61589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Interpret data within BIM outputs</a:t>
            </a:r>
          </a:p>
        </p:txBody>
      </p:sp>
      <p:sp>
        <p:nvSpPr>
          <p:cNvPr id="42" name="Rectangle 41"/>
          <p:cNvSpPr/>
          <p:nvPr/>
        </p:nvSpPr>
        <p:spPr>
          <a:xfrm>
            <a:off x="6231636" y="4548225"/>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676241"/>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Analyse the design performance and compliance of the relevant systems</a:t>
            </a:r>
          </a:p>
        </p:txBody>
      </p:sp>
      <p:sp>
        <p:nvSpPr>
          <p:cNvPr id="47" name="Rectangle 46"/>
          <p:cNvSpPr/>
          <p:nvPr/>
        </p:nvSpPr>
        <p:spPr>
          <a:xfrm>
            <a:off x="777240" y="5469940"/>
            <a:ext cx="5180076"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5597956"/>
            <a:ext cx="3973068"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Develop BIM documentation</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MAP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 — Four Topics, Ten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Topic 1 · Introduction to BIM and Revit</a:t>
            </a:r>
          </a:p>
          <a:p>
            <a:pPr algn="l">
              <a:spcAft>
                <a:spcPts val="300"/>
              </a:spcAft>
            </a:pPr>
            <a:r>
              <a:rPr sz="1100" b="0">
                <a:solidFill>
                  <a:srgbClr val="5B6372"/>
                </a:solidFill>
                <a:latin typeface="Arial"/>
              </a:rPr>
              <a:t>K1–K4, A1–A2 — BIM principles, dimensions, value, requirements; the Revit environment. Labs 1–2.</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Topic 2 · BIM Modeling</a:t>
            </a:r>
          </a:p>
          <a:p>
            <a:pPr algn="l">
              <a:spcAft>
                <a:spcPts val="300"/>
              </a:spcAft>
            </a:pPr>
            <a:r>
              <a:rPr sz="1100" b="0">
                <a:solidFill>
                  <a:srgbClr val="5B6372"/>
                </a:solidFill>
                <a:latin typeface="Arial"/>
              </a:rPr>
              <a:t>K6–K7, A4–A5 — walls, floors, roofs, stairs, structure, site, massing, families. Labs 3–6.</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Topic 3 · BIM Application</a:t>
            </a:r>
          </a:p>
          <a:p>
            <a:pPr algn="l">
              <a:spcAft>
                <a:spcPts val="300"/>
              </a:spcAft>
            </a:pPr>
            <a:r>
              <a:rPr sz="1100" b="0">
                <a:solidFill>
                  <a:srgbClr val="5B6372"/>
                </a:solidFill>
                <a:latin typeface="Arial"/>
              </a:rPr>
              <a:t>K5, A6–A8 — operate BIM, schedules and takeoffs, energy analysis, compliance checks. Labs 7–8.</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Topic 4 · BIM Documentation</a:t>
            </a:r>
          </a:p>
          <a:p>
            <a:pPr algn="l">
              <a:spcAft>
                <a:spcPts val="300"/>
              </a:spcAft>
            </a:pPr>
            <a:r>
              <a:rPr sz="1100" b="0">
                <a:solidFill>
                  <a:srgbClr val="5B6372"/>
                </a:solidFill>
                <a:latin typeface="Arial"/>
              </a:rPr>
              <a:t>K8–K10, A3, A9 — documentation, databases, worksharing, BCA e-submission standards. Labs 9–10.</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TEST YOURSELF · exams.tertiaryinfotech.com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01367"/>
            <a:ext cx="4352544" cy="168043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84_img96.png"/>
          <p:cNvPicPr>
            <a:picLocks noChangeAspect="1"/>
          </p:cNvPicPr>
          <p:nvPr/>
        </p:nvPicPr>
        <p:blipFill>
          <a:blip r:embed="rId2"/>
          <a:stretch>
            <a:fillRect/>
          </a:stretch>
        </p:blipFill>
        <p:spPr>
          <a:xfrm>
            <a:off x="7205472" y="1874519"/>
            <a:ext cx="4206240" cy="1534129"/>
          </a:xfrm>
          <a:prstGeom prst="rect">
            <a:avLst/>
          </a:prstGeom>
        </p:spPr>
      </p:pic>
      <p:sp>
        <p:nvSpPr>
          <p:cNvPr id="9" name="TextBox 8"/>
          <p:cNvSpPr txBox="1"/>
          <p:nvPr/>
        </p:nvSpPr>
        <p:spPr>
          <a:xfrm>
            <a:off x="777240" y="1828800"/>
            <a:ext cx="6062472" cy="4297680"/>
          </a:xfrm>
          <a:prstGeom prst="rect">
            <a:avLst/>
          </a:prstGeom>
          <a:noFill/>
        </p:spPr>
        <p:txBody>
          <a:bodyPr wrap="square">
            <a:spAutoFit/>
          </a:bodyPr>
          <a:lstStyle/>
          <a:p>
            <a:pPr>
              <a:spcAft>
                <a:spcPts val="1200"/>
              </a:spcAft>
            </a:pPr>
            <a:r>
              <a:rPr sz="1500" b="0">
                <a:solidFill>
                  <a:srgbClr val="161B26"/>
                </a:solidFill>
                <a:latin typeface="Arial"/>
              </a:rPr>
              <a:t>•  Sharpen your readiness with the Tertiary Infotech practice exams portal.</a:t>
            </a:r>
          </a:p>
          <a:p>
            <a:pPr>
              <a:spcAft>
                <a:spcPts val="1200"/>
              </a:spcAft>
            </a:pPr>
            <a:r>
              <a:rPr sz="1500" b="0">
                <a:solidFill>
                  <a:srgbClr val="161B26"/>
                </a:solidFill>
                <a:latin typeface="Arial"/>
              </a:rPr>
              <a:t>•  Portal: https://exams.tertiaryinfotech.com — search for the BIM / Revit practice exam.</a:t>
            </a:r>
          </a:p>
          <a:p>
            <a:pPr>
              <a:spcAft>
                <a:spcPts val="1200"/>
              </a:spcAft>
            </a:pPr>
            <a:r>
              <a:rPr sz="1500" b="0">
                <a:solidFill>
                  <a:srgbClr val="161B26"/>
                </a:solidFill>
                <a:latin typeface="Arial"/>
              </a:rPr>
              <a:t>•  Attempt it under timed conditions and review every explanation.</a:t>
            </a:r>
          </a:p>
          <a:p>
            <a:pPr>
              <a:spcAft>
                <a:spcPts val="1200"/>
              </a:spcAft>
            </a:pPr>
            <a:r>
              <a:rPr sz="1500" b="0">
                <a:solidFill>
                  <a:srgbClr val="161B26"/>
                </a:solidFill>
                <a:latin typeface="Arial"/>
              </a:rPr>
              <a:t>•  Revisit any topic you miss, then re-take the practice exam before the final assessment.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5" name="Rectangle 4"/>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Place phones and other materials under the table or on the floor.</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a:t>
            </a:r>
          </a:p>
          <a:p>
            <a:pPr>
              <a:spcAft>
                <a:spcPts val="1000"/>
              </a:spcAft>
            </a:pPr>
            <a:r>
              <a:rPr sz="2000" b="0">
                <a:solidFill>
                  <a:srgbClr val="161B26"/>
                </a:solidFill>
                <a:latin typeface="Arial"/>
              </a:rPr>
              <a:t>•  No liquid paper / correction tape.</a:t>
            </a:r>
          </a:p>
          <a:p>
            <a:pPr>
              <a:spcAft>
                <a:spcPts val="1000"/>
              </a:spcAft>
            </a:pPr>
            <a:r>
              <a:rPr sz="2000" b="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 · DAY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hands-on Revit modeling tasks, 1.5 hours, open book.</a:t>
            </a:r>
          </a:p>
          <a:p>
            <a:pPr>
              <a:spcAft>
                <a:spcPts val="1000"/>
              </a:spcAft>
            </a:pPr>
            <a:r>
              <a:rPr sz="2000" b="0">
                <a:solidFill>
                  <a:srgbClr val="161B26"/>
                </a:solidFill>
                <a:latin typeface="Arial"/>
              </a:rPr>
              <a:t>•  Format: Open Book — slides, Learner Guide and approved materials only.</a:t>
            </a:r>
          </a:p>
          <a:p>
            <a:pPr>
              <a:spcAft>
                <a:spcPts val="1000"/>
              </a:spcAft>
            </a:pPr>
            <a:r>
              <a:rPr sz="2000" b="0">
                <a:solidFill>
                  <a:srgbClr val="161B26"/>
                </a:solidFill>
                <a:latin typeface="Arial"/>
              </a:rPr>
              <a:t>•  The PP is completed in Revit using the provided PP dataset (.rvt).</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1 hr) then PP (1.5 hrs)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BIM and Revit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is BIM · principles of BIM · value proposition · requirements and applications · introduction of Revit for BIM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ALIGNMENT: K1–K4 · A1, A2 · LO1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Introduction to BIM and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BIM is a process, not a drawing</a:t>
            </a:r>
          </a:p>
          <a:p>
            <a:pPr algn="l">
              <a:spcAft>
                <a:spcPts val="300"/>
              </a:spcAft>
            </a:pPr>
            <a:r>
              <a:rPr sz="1100" b="0">
                <a:solidFill>
                  <a:srgbClr val="5B6372"/>
                </a:solidFill>
                <a:latin typeface="Arial"/>
              </a:rPr>
              <a:t>An intelligent 3D model-based process giving AEC professionals the insight to plan, design, construct and manage buildings and infrastructure.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One model, whole lifecycle</a:t>
            </a:r>
          </a:p>
          <a:p>
            <a:pPr algn="l">
              <a:spcAft>
                <a:spcPts val="300"/>
              </a:spcAft>
            </a:pPr>
            <a:r>
              <a:rPr sz="1100" b="0">
                <a:solidFill>
                  <a:srgbClr val="5B6372"/>
                </a:solidFill>
                <a:latin typeface="Arial"/>
              </a:rPr>
              <a:t>The BIM process — Plan, Design, Build, Operate — creates intelligent data that is used across the entire life of a built asset.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Dimensions beyond 3D</a:t>
            </a:r>
          </a:p>
          <a:p>
            <a:pPr algn="l">
              <a:spcAft>
                <a:spcPts val="300"/>
              </a:spcAft>
            </a:pPr>
            <a:r>
              <a:rPr sz="1100" b="0">
                <a:solidFill>
                  <a:srgbClr val="5B6372"/>
                </a:solidFill>
                <a:latin typeface="Arial"/>
              </a:rPr>
              <a:t>3D geometry, 4D time, 5D cost, 6D sustainability, 7D facility management and 8D safety add information layers to the model.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value proposition</a:t>
            </a:r>
          </a:p>
          <a:p>
            <a:pPr algn="l">
              <a:spcAft>
                <a:spcPts val="300"/>
              </a:spcAft>
            </a:pPr>
            <a:r>
              <a:rPr sz="1100" b="0">
                <a:solidFill>
                  <a:srgbClr val="5B6372"/>
                </a:solidFill>
                <a:latin typeface="Arial"/>
              </a:rPr>
              <a:t>Greater efficiency, lower cost and wastage, better estimates, deeper insight, closer collaboration and better end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Requirements frame the work</a:t>
            </a:r>
          </a:p>
          <a:p>
            <a:pPr algn="l">
              <a:spcAft>
                <a:spcPts val="300"/>
              </a:spcAft>
            </a:pPr>
            <a:r>
              <a:rPr sz="1100" b="0">
                <a:solidFill>
                  <a:srgbClr val="5B6372"/>
                </a:solidFill>
                <a:latin typeface="Arial"/>
              </a:rPr>
              <a:t>OIR, AIR, EIR, the BIM Execution Plan (BEP), PIM and AIM define what information is delivered, by whom and when.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Revit is a BIM authoring tool</a:t>
            </a:r>
          </a:p>
          <a:p>
            <a:pPr algn="l">
              <a:spcAft>
                <a:spcPts val="300"/>
              </a:spcAft>
            </a:pPr>
            <a:r>
              <a:rPr sz="1100" b="0">
                <a:solidFill>
                  <a:srgbClr val="5B6372"/>
                </a:solidFill>
                <a:latin typeface="Arial"/>
              </a:rPr>
              <a:t>A single, integrated parametric model to conceptualise, design and document a project — used by architects, engineers and contractors.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BIM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in the Building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87113" y="1755648"/>
            <a:ext cx="7417469" cy="4123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17_img4.png"/>
          <p:cNvPicPr>
            <a:picLocks noChangeAspect="1"/>
          </p:cNvPicPr>
          <p:nvPr/>
        </p:nvPicPr>
        <p:blipFill>
          <a:blip r:embed="rId2"/>
          <a:stretch>
            <a:fillRect/>
          </a:stretch>
        </p:blipFill>
        <p:spPr>
          <a:xfrm>
            <a:off x="2460265" y="1828800"/>
            <a:ext cx="7271165" cy="3977639"/>
          </a:xfrm>
          <a:prstGeom prst="rect">
            <a:avLst/>
          </a:prstGeom>
        </p:spPr>
      </p:pic>
      <p:sp>
        <p:nvSpPr>
          <p:cNvPr id="9" name="TextBox 8"/>
          <p:cNvSpPr txBox="1"/>
          <p:nvPr/>
        </p:nvSpPr>
        <p:spPr>
          <a:xfrm>
            <a:off x="777240" y="594360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Building Information Modelling spans design, construction and operation.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DEFINITION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BIM?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801367"/>
            <a:ext cx="5266944" cy="3026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19_img5.png"/>
          <p:cNvPicPr>
            <a:picLocks noChangeAspect="1"/>
          </p:cNvPicPr>
          <p:nvPr/>
        </p:nvPicPr>
        <p:blipFill>
          <a:blip r:embed="rId2"/>
          <a:stretch>
            <a:fillRect/>
          </a:stretch>
        </p:blipFill>
        <p:spPr>
          <a:xfrm>
            <a:off x="6291072" y="1874519"/>
            <a:ext cx="5120640" cy="2880360"/>
          </a:xfrm>
          <a:prstGeom prst="rect">
            <a:avLst/>
          </a:prstGeom>
        </p:spPr>
      </p:pic>
      <p:sp>
        <p:nvSpPr>
          <p:cNvPr id="9" name="TextBox 8"/>
          <p:cNvSpPr txBox="1"/>
          <p:nvPr/>
        </p:nvSpPr>
        <p:spPr>
          <a:xfrm>
            <a:off x="777240" y="1828800"/>
            <a:ext cx="5148072" cy="4297680"/>
          </a:xfrm>
          <a:prstGeom prst="rect">
            <a:avLst/>
          </a:prstGeom>
          <a:noFill/>
        </p:spPr>
        <p:txBody>
          <a:bodyPr wrap="square">
            <a:spAutoFit/>
          </a:bodyPr>
          <a:lstStyle/>
          <a:p>
            <a:pPr>
              <a:spcAft>
                <a:spcPts val="1200"/>
              </a:spcAft>
            </a:pPr>
            <a:r>
              <a:rPr sz="1500" b="0">
                <a:solidFill>
                  <a:srgbClr val="161B26"/>
                </a:solidFill>
                <a:latin typeface="Arial"/>
              </a:rPr>
              <a:t>•  An intelligent 3D model-based process that gives AEC professionals every detail needed to plan, design, construct and manage buildings and infrastructure.</a:t>
            </a:r>
          </a:p>
          <a:p>
            <a:pPr>
              <a:spcAft>
                <a:spcPts val="1200"/>
              </a:spcAft>
            </a:pPr>
            <a:r>
              <a:rPr sz="1500" b="0">
                <a:solidFill>
                  <a:srgbClr val="161B26"/>
                </a:solidFill>
                <a:latin typeface="Arial"/>
              </a:rPr>
              <a:t>•  Design and construction teams work more efficiently while capturing the data they create — benefiting operations, maintenance and future planning.</a:t>
            </a:r>
          </a:p>
          <a:p>
            <a:pPr>
              <a:spcAft>
                <a:spcPts val="1200"/>
              </a:spcAft>
            </a:pPr>
            <a:r>
              <a:rPr sz="1500" b="0">
                <a:solidFill>
                  <a:srgbClr val="161B26"/>
                </a:solidFill>
                <a:latin typeface="Arial"/>
              </a:rPr>
              <a:t>•  Used across architecture, civil engineering, construction, plant, MEP and structural engineering to make better design decisions and improve building performance.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BIM PROCESS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Process of BIM — Plan · Design · Build · Operate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Plan</a:t>
            </a:r>
          </a:p>
          <a:p>
            <a:pPr algn="l">
              <a:spcAft>
                <a:spcPts val="300"/>
              </a:spcAft>
            </a:pPr>
            <a:r>
              <a:rPr sz="1200" b="0">
                <a:solidFill>
                  <a:srgbClr val="5B6372"/>
                </a:solidFill>
                <a:latin typeface="Arial"/>
              </a:rPr>
              <a:t>Combine reality capture and real-world data to generate context models of the existing built and natural environment.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Design</a:t>
            </a:r>
          </a:p>
          <a:p>
            <a:pPr algn="l">
              <a:spcAft>
                <a:spcPts val="300"/>
              </a:spcAft>
            </a:pPr>
            <a:r>
              <a:rPr sz="1200" b="0">
                <a:solidFill>
                  <a:srgbClr val="5B6372"/>
                </a:solidFill>
                <a:latin typeface="Arial"/>
              </a:rPr>
              <a:t>Conceptual design, analysis, detailing and documentation — BIM data informs scheduling and logistics before construction begins.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Build</a:t>
            </a:r>
          </a:p>
          <a:p>
            <a:pPr algn="l">
              <a:spcAft>
                <a:spcPts val="300"/>
              </a:spcAft>
            </a:pPr>
            <a:r>
              <a:rPr sz="1200" b="0">
                <a:solidFill>
                  <a:srgbClr val="5B6372"/>
                </a:solidFill>
                <a:latin typeface="Arial"/>
              </a:rPr>
              <a:t>Fabrication starts from BIM specifications; construction logistics are shared with trades and contractors for optimum timing.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Operate</a:t>
            </a:r>
          </a:p>
          <a:p>
            <a:pPr algn="l">
              <a:spcAft>
                <a:spcPts val="300"/>
              </a:spcAft>
            </a:pPr>
            <a:r>
              <a:rPr sz="1200" b="0">
                <a:solidFill>
                  <a:srgbClr val="5B6372"/>
                </a:solidFill>
                <a:latin typeface="Arial"/>
              </a:rPr>
              <a:t>BIM data carries over to operations and maintenance — and later to cost-effective renovation or efficient deconstruction.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PRINCIPLES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Principles of BIM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83870" y="1755648"/>
            <a:ext cx="8423954" cy="4123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23_img9.png"/>
          <p:cNvPicPr>
            <a:picLocks noChangeAspect="1"/>
          </p:cNvPicPr>
          <p:nvPr/>
        </p:nvPicPr>
        <p:blipFill>
          <a:blip r:embed="rId2"/>
          <a:stretch>
            <a:fillRect/>
          </a:stretch>
        </p:blipFill>
        <p:spPr>
          <a:xfrm>
            <a:off x="1957022" y="1828800"/>
            <a:ext cx="8277650" cy="3977639"/>
          </a:xfrm>
          <a:prstGeom prst="rect">
            <a:avLst/>
          </a:prstGeom>
        </p:spPr>
      </p:pic>
      <p:sp>
        <p:nvSpPr>
          <p:cNvPr id="9" name="TextBox 8"/>
          <p:cNvSpPr txBox="1"/>
          <p:nvPr/>
        </p:nvSpPr>
        <p:spPr>
          <a:xfrm>
            <a:off x="777240" y="594360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The BIM principles: one shared, coordinated, data-rich model across the project lifecycle.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BIM DIMENSIONS · 1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Dimensions — 3D Geometry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01367"/>
            <a:ext cx="4352544" cy="356033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24_img10.png"/>
          <p:cNvPicPr>
            <a:picLocks noChangeAspect="1"/>
          </p:cNvPicPr>
          <p:nvPr/>
        </p:nvPicPr>
        <p:blipFill>
          <a:blip r:embed="rId2"/>
          <a:stretch>
            <a:fillRect/>
          </a:stretch>
        </p:blipFill>
        <p:spPr>
          <a:xfrm>
            <a:off x="7205472" y="1874519"/>
            <a:ext cx="4206240" cy="3414033"/>
          </a:xfrm>
          <a:prstGeom prst="rect">
            <a:avLst/>
          </a:prstGeom>
        </p:spPr>
      </p:pic>
      <p:sp>
        <p:nvSpPr>
          <p:cNvPr id="9" name="TextBox 8"/>
          <p:cNvSpPr txBox="1"/>
          <p:nvPr/>
        </p:nvSpPr>
        <p:spPr>
          <a:xfrm>
            <a:off x="777240" y="1828800"/>
            <a:ext cx="6062472" cy="4297680"/>
          </a:xfrm>
          <a:prstGeom prst="rect">
            <a:avLst/>
          </a:prstGeom>
          <a:noFill/>
        </p:spPr>
        <p:txBody>
          <a:bodyPr wrap="square">
            <a:spAutoFit/>
          </a:bodyPr>
          <a:lstStyle/>
          <a:p>
            <a:pPr>
              <a:spcAft>
                <a:spcPts val="1200"/>
              </a:spcAft>
            </a:pPr>
            <a:r>
              <a:rPr sz="1500" b="0">
                <a:solidFill>
                  <a:srgbClr val="161B26"/>
                </a:solidFill>
                <a:latin typeface="Arial"/>
              </a:rPr>
              <a:t>•  3D BIM is the most common model type — the three geographic dimensions (x, y, z) of a structure.</a:t>
            </a:r>
          </a:p>
          <a:p>
            <a:pPr>
              <a:spcAft>
                <a:spcPts val="1200"/>
              </a:spcAft>
            </a:pPr>
            <a:r>
              <a:rPr sz="1500" b="0">
                <a:solidFill>
                  <a:srgbClr val="161B26"/>
                </a:solidFill>
                <a:latin typeface="Arial"/>
              </a:rPr>
              <a:t>•  Helps stakeholders visualise the structure before the project starts.</a:t>
            </a:r>
          </a:p>
          <a:p>
            <a:pPr>
              <a:spcAft>
                <a:spcPts val="1200"/>
              </a:spcAft>
            </a:pPr>
            <a:r>
              <a:rPr sz="1500" b="0">
                <a:solidFill>
                  <a:srgbClr val="161B26"/>
                </a:solidFill>
                <a:latin typeface="Arial"/>
              </a:rPr>
              <a:t>•  Gives AEC professionals the insight and tools to plan, design, construct and manage more efficiently.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BIM DIMENSIONS · 2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Dimensions — 4D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59182" y="1801367"/>
            <a:ext cx="3425682" cy="4306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25_img11.png"/>
          <p:cNvPicPr>
            <a:picLocks noChangeAspect="1"/>
          </p:cNvPicPr>
          <p:nvPr/>
        </p:nvPicPr>
        <p:blipFill>
          <a:blip r:embed="rId2"/>
          <a:stretch>
            <a:fillRect/>
          </a:stretch>
        </p:blipFill>
        <p:spPr>
          <a:xfrm>
            <a:off x="8132334" y="1874519"/>
            <a:ext cx="3279378" cy="4160520"/>
          </a:xfrm>
          <a:prstGeom prst="rect">
            <a:avLst/>
          </a:prstGeom>
        </p:spPr>
      </p:pic>
      <p:sp>
        <p:nvSpPr>
          <p:cNvPr id="9" name="TextBox 8"/>
          <p:cNvSpPr txBox="1"/>
          <p:nvPr/>
        </p:nvSpPr>
        <p:spPr>
          <a:xfrm>
            <a:off x="777240" y="1828800"/>
            <a:ext cx="6989334" cy="4297680"/>
          </a:xfrm>
          <a:prstGeom prst="rect">
            <a:avLst/>
          </a:prstGeom>
          <a:noFill/>
        </p:spPr>
        <p:txBody>
          <a:bodyPr wrap="square">
            <a:spAutoFit/>
          </a:bodyPr>
          <a:lstStyle/>
          <a:p>
            <a:pPr>
              <a:spcAft>
                <a:spcPts val="1200"/>
              </a:spcAft>
            </a:pPr>
            <a:r>
              <a:rPr sz="1500" b="0">
                <a:solidFill>
                  <a:srgbClr val="161B26"/>
                </a:solidFill>
                <a:latin typeface="Arial"/>
              </a:rPr>
              <a:t>•  The 4th dimension adds project duration — timeline and scheduling information show how the project evolves over time.</a:t>
            </a:r>
          </a:p>
          <a:p>
            <a:pPr>
              <a:spcAft>
                <a:spcPts val="1200"/>
              </a:spcAft>
            </a:pPr>
            <a:r>
              <a:rPr sz="1500" b="0">
                <a:solidFill>
                  <a:srgbClr val="161B26"/>
                </a:solidFill>
                <a:latin typeface="Arial"/>
              </a:rPr>
              <a:t>•  Extremely helpful for early-stage conflict detection, site planning and scheduling optimisation.</a:t>
            </a:r>
          </a:p>
          <a:p>
            <a:pPr>
              <a:spcAft>
                <a:spcPts val="1200"/>
              </a:spcAft>
            </a:pPr>
            <a:r>
              <a:rPr sz="1500" b="0">
                <a:solidFill>
                  <a:srgbClr val="161B26"/>
                </a:solidFill>
                <a:latin typeface="Arial"/>
              </a:rPr>
              <a:t>•  Better communicates the next steps to stakeholders during every stage of construction.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BIM DIMENSIONS · 3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Dimensions — 5D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67219" y="1801367"/>
            <a:ext cx="2917645" cy="4306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26_img12.png"/>
          <p:cNvPicPr>
            <a:picLocks noChangeAspect="1"/>
          </p:cNvPicPr>
          <p:nvPr/>
        </p:nvPicPr>
        <p:blipFill>
          <a:blip r:embed="rId2"/>
          <a:stretch>
            <a:fillRect/>
          </a:stretch>
        </p:blipFill>
        <p:spPr>
          <a:xfrm>
            <a:off x="8640371" y="1874519"/>
            <a:ext cx="2771341" cy="4160520"/>
          </a:xfrm>
          <a:prstGeom prst="rect">
            <a:avLst/>
          </a:prstGeom>
        </p:spPr>
      </p:pic>
      <p:sp>
        <p:nvSpPr>
          <p:cNvPr id="9" name="TextBox 8"/>
          <p:cNvSpPr txBox="1"/>
          <p:nvPr/>
        </p:nvSpPr>
        <p:spPr>
          <a:xfrm>
            <a:off x="777240" y="1828800"/>
            <a:ext cx="7497371" cy="4297680"/>
          </a:xfrm>
          <a:prstGeom prst="rect">
            <a:avLst/>
          </a:prstGeom>
          <a:noFill/>
        </p:spPr>
        <p:txBody>
          <a:bodyPr wrap="square">
            <a:spAutoFit/>
          </a:bodyPr>
          <a:lstStyle/>
          <a:p>
            <a:pPr>
              <a:spcAft>
                <a:spcPts val="1200"/>
              </a:spcAft>
            </a:pPr>
            <a:r>
              <a:rPr sz="1500" b="0">
                <a:solidFill>
                  <a:srgbClr val="161B26"/>
                </a:solidFill>
                <a:latin typeface="Arial"/>
              </a:rPr>
              <a:t>•  5D BIM visualises budget analysis and cost estimation — analysing project costs over time.</a:t>
            </a:r>
          </a:p>
          <a:p>
            <a:pPr>
              <a:spcAft>
                <a:spcPts val="1200"/>
              </a:spcAft>
            </a:pPr>
            <a:r>
              <a:rPr sz="1500" b="0">
                <a:solidFill>
                  <a:srgbClr val="161B26"/>
                </a:solidFill>
                <a:latin typeface="Arial"/>
              </a:rPr>
              <a:t>•  Especially useful early on, to estimate costs of different design or construction scenarios.</a:t>
            </a:r>
          </a:p>
          <a:p>
            <a:pPr>
              <a:spcAft>
                <a:spcPts val="1200"/>
              </a:spcAft>
            </a:pPr>
            <a:r>
              <a:rPr sz="1500" b="0">
                <a:solidFill>
                  <a:srgbClr val="161B26"/>
                </a:solidFill>
                <a:latin typeface="Arial"/>
              </a:rPr>
              <a:t>•  Tracks predicted vs actual cost with real-time notifications of cost overrun.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BIM DIMENSIONS · 4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Dimensions — 6D Sustainability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0" y="1801367"/>
            <a:ext cx="3986784" cy="418451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27_img13.png"/>
          <p:cNvPicPr>
            <a:picLocks noChangeAspect="1"/>
          </p:cNvPicPr>
          <p:nvPr/>
        </p:nvPicPr>
        <p:blipFill>
          <a:blip r:embed="rId2"/>
          <a:stretch>
            <a:fillRect/>
          </a:stretch>
        </p:blipFill>
        <p:spPr>
          <a:xfrm>
            <a:off x="7571232" y="1874519"/>
            <a:ext cx="3840480" cy="4038207"/>
          </a:xfrm>
          <a:prstGeom prst="rect">
            <a:avLst/>
          </a:prstGeom>
        </p:spPr>
      </p:pic>
      <p:sp>
        <p:nvSpPr>
          <p:cNvPr id="9" name="TextBox 8"/>
          <p:cNvSpPr txBox="1"/>
          <p:nvPr/>
        </p:nvSpPr>
        <p:spPr>
          <a:xfrm>
            <a:off x="777240" y="1828800"/>
            <a:ext cx="6428232" cy="4297680"/>
          </a:xfrm>
          <a:prstGeom prst="rect">
            <a:avLst/>
          </a:prstGeom>
          <a:noFill/>
        </p:spPr>
        <p:txBody>
          <a:bodyPr wrap="square">
            <a:spAutoFit/>
          </a:bodyPr>
          <a:lstStyle/>
          <a:p>
            <a:pPr>
              <a:spcAft>
                <a:spcPts val="1200"/>
              </a:spcAft>
            </a:pPr>
            <a:r>
              <a:rPr sz="1500" b="0">
                <a:solidFill>
                  <a:srgbClr val="161B26"/>
                </a:solidFill>
                <a:latin typeface="Arial"/>
              </a:rPr>
              <a:t>•  6D BIM makes a structure self-sustainable and energy-efficient.</a:t>
            </a:r>
          </a:p>
          <a:p>
            <a:pPr>
              <a:spcAft>
                <a:spcPts val="1200"/>
              </a:spcAft>
            </a:pPr>
            <a:r>
              <a:rPr sz="1500" b="0">
                <a:solidFill>
                  <a:srgbClr val="161B26"/>
                </a:solidFill>
                <a:latin typeface="Arial"/>
              </a:rPr>
              <a:t>•  Stakeholders analyse energy consumption and estimate energy usage during the initial design phase.</a:t>
            </a:r>
          </a:p>
          <a:p>
            <a:pPr>
              <a:spcAft>
                <a:spcPts val="1200"/>
              </a:spcAft>
            </a:pPr>
            <a:r>
              <a:rPr sz="1500" b="0">
                <a:solidFill>
                  <a:srgbClr val="161B26"/>
                </a:solidFill>
                <a:latin typeface="Arial"/>
              </a:rPr>
              <a:t>•  Reduces energy consumption in the long run and improves operational management after construction.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BIM DIMENSIONS · 5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Dimensions — 7D Facility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0" y="1801367"/>
            <a:ext cx="3986784" cy="41884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28_img14.png"/>
          <p:cNvPicPr>
            <a:picLocks noChangeAspect="1"/>
          </p:cNvPicPr>
          <p:nvPr/>
        </p:nvPicPr>
        <p:blipFill>
          <a:blip r:embed="rId2"/>
          <a:stretch>
            <a:fillRect/>
          </a:stretch>
        </p:blipFill>
        <p:spPr>
          <a:xfrm>
            <a:off x="7571232" y="1874519"/>
            <a:ext cx="3840480" cy="4042185"/>
          </a:xfrm>
          <a:prstGeom prst="rect">
            <a:avLst/>
          </a:prstGeom>
        </p:spPr>
      </p:pic>
      <p:sp>
        <p:nvSpPr>
          <p:cNvPr id="9" name="TextBox 8"/>
          <p:cNvSpPr txBox="1"/>
          <p:nvPr/>
        </p:nvSpPr>
        <p:spPr>
          <a:xfrm>
            <a:off x="777240" y="1828800"/>
            <a:ext cx="6428232" cy="4297680"/>
          </a:xfrm>
          <a:prstGeom prst="rect">
            <a:avLst/>
          </a:prstGeom>
          <a:noFill/>
        </p:spPr>
        <p:txBody>
          <a:bodyPr wrap="square">
            <a:spAutoFit/>
          </a:bodyPr>
          <a:lstStyle/>
          <a:p>
            <a:pPr>
              <a:spcAft>
                <a:spcPts val="1200"/>
              </a:spcAft>
            </a:pPr>
            <a:r>
              <a:rPr sz="1500" b="0">
                <a:solidFill>
                  <a:srgbClr val="161B26"/>
                </a:solidFill>
                <a:latin typeface="Arial"/>
              </a:rPr>
              <a:t>•  7D BIM improves operations and facility management for building owners and managers.</a:t>
            </a:r>
          </a:p>
          <a:p>
            <a:pPr>
              <a:spcAft>
                <a:spcPts val="1200"/>
              </a:spcAft>
            </a:pPr>
            <a:r>
              <a:rPr sz="1500" b="0">
                <a:solidFill>
                  <a:srgbClr val="161B26"/>
                </a:solidFill>
                <a:latin typeface="Arial"/>
              </a:rPr>
              <a:t>•  Tracks asset data: status, warranty information, technical specifications, maintenance and operation manuals.</a:t>
            </a:r>
          </a:p>
          <a:p>
            <a:pPr>
              <a:spcAft>
                <a:spcPts val="1200"/>
              </a:spcAft>
            </a:pPr>
            <a:r>
              <a:rPr sz="1500" b="0">
                <a:solidFill>
                  <a:srgbClr val="161B26"/>
                </a:solidFill>
                <a:latin typeface="Arial"/>
              </a:rPr>
              <a:t>•  Improves the maintenance process by listing all replacement parts and specifications.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BIM DIMENSIONS · 6 OF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Dimensions — 8D Safety, and the Full Stack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3D — Geometry</a:t>
            </a:r>
          </a:p>
          <a:p>
            <a:pPr algn="l">
              <a:spcAft>
                <a:spcPts val="300"/>
              </a:spcAft>
            </a:pPr>
            <a:r>
              <a:rPr sz="1100" b="0">
                <a:solidFill>
                  <a:srgbClr val="5B6372"/>
                </a:solidFill>
                <a:latin typeface="Arial"/>
              </a:rPr>
              <a:t>The shared x, y, z model every stakeholder visualises.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4D — Time</a:t>
            </a:r>
          </a:p>
          <a:p>
            <a:pPr algn="l">
              <a:spcAft>
                <a:spcPts val="300"/>
              </a:spcAft>
            </a:pPr>
            <a:r>
              <a:rPr sz="1100" b="0">
                <a:solidFill>
                  <a:srgbClr val="5B6372"/>
                </a:solidFill>
                <a:latin typeface="Arial"/>
              </a:rPr>
              <a:t>Schedule linked to the model; the build sequence becomes visible.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5D — Money</a:t>
            </a:r>
          </a:p>
          <a:p>
            <a:pPr algn="l">
              <a:spcAft>
                <a:spcPts val="300"/>
              </a:spcAft>
            </a:pPr>
            <a:r>
              <a:rPr sz="1100" b="0">
                <a:solidFill>
                  <a:srgbClr val="5B6372"/>
                </a:solidFill>
                <a:latin typeface="Arial"/>
              </a:rPr>
              <a:t>Cost estimation and budget tracking over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6D — Sustainability</a:t>
            </a:r>
          </a:p>
          <a:p>
            <a:pPr algn="l">
              <a:spcAft>
                <a:spcPts val="300"/>
              </a:spcAft>
            </a:pPr>
            <a:r>
              <a:rPr sz="1100" b="0">
                <a:solidFill>
                  <a:srgbClr val="5B6372"/>
                </a:solidFill>
                <a:latin typeface="Arial"/>
              </a:rPr>
              <a:t>Energy analysis from the design stage onwards.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7D — Facility Management</a:t>
            </a:r>
          </a:p>
          <a:p>
            <a:pPr algn="l">
              <a:spcAft>
                <a:spcPts val="300"/>
              </a:spcAft>
            </a:pPr>
            <a:r>
              <a:rPr sz="1100" b="0">
                <a:solidFill>
                  <a:srgbClr val="5B6372"/>
                </a:solidFill>
                <a:latin typeface="Arial"/>
              </a:rPr>
              <a:t>Asset data for operations and maintenance.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8D — Safety</a:t>
            </a:r>
          </a:p>
          <a:p>
            <a:pPr algn="l">
              <a:spcAft>
                <a:spcPts val="300"/>
              </a:spcAft>
            </a:pPr>
            <a:r>
              <a:rPr sz="1100" b="0">
                <a:solidFill>
                  <a:srgbClr val="5B6372"/>
                </a:solidFill>
                <a:latin typeface="Arial"/>
              </a:rPr>
              <a:t>Safety information added at design and execution — an overall picture of site risks and hazards for workers, before they occur.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VALUE PROPOSITION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Value Proposition — Advantages of BIM (1–4)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Maximised efficiency</a:t>
            </a:r>
          </a:p>
          <a:p>
            <a:pPr algn="l">
              <a:spcAft>
                <a:spcPts val="300"/>
              </a:spcAft>
            </a:pPr>
            <a:r>
              <a:rPr sz="1100" b="0">
                <a:solidFill>
                  <a:srgbClr val="5B6372"/>
                </a:solidFill>
                <a:latin typeface="Arial"/>
              </a:rPr>
              <a:t>Shorter project lifecycles; pre-construction and planning phases become easier to manage — everyone works off one up-to-date model, reducing errors and rework.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Reduced costs and wastage</a:t>
            </a:r>
          </a:p>
          <a:p>
            <a:pPr algn="l">
              <a:spcAft>
                <a:spcPts val="300"/>
              </a:spcAft>
            </a:pPr>
            <a:r>
              <a:rPr sz="1100" b="0">
                <a:solidFill>
                  <a:srgbClr val="5B6372"/>
                </a:solidFill>
                <a:latin typeface="Arial"/>
              </a:rPr>
              <a:t>Better material choices and streamlined construction work minimise human error and wasted materials — cutting cost.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Improved cost estimates</a:t>
            </a:r>
          </a:p>
          <a:p>
            <a:pPr algn="l">
              <a:spcAft>
                <a:spcPts val="300"/>
              </a:spcAft>
            </a:pPr>
            <a:r>
              <a:rPr sz="1100" b="0">
                <a:solidFill>
                  <a:srgbClr val="5B6372"/>
                </a:solidFill>
                <a:latin typeface="Arial"/>
              </a:rPr>
              <a:t>Model-based estimates from a detailed 3D model are more realistic and accurate, and quantity takeoffs become far easier.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Better insight into the project</a:t>
            </a:r>
          </a:p>
          <a:p>
            <a:pPr algn="l">
              <a:spcAft>
                <a:spcPts val="300"/>
              </a:spcAft>
            </a:pPr>
            <a:r>
              <a:rPr sz="1100" b="0">
                <a:solidFill>
                  <a:srgbClr val="5B6372"/>
                </a:solidFill>
                <a:latin typeface="Arial"/>
              </a:rPr>
              <a:t>A realistic 3D look at the eventual outcome helps contractors and clients feel the built asset — changes happen in pre-construction, not on site.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VALUE PROPOSITION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Value Proposition — Advantages of BIM (5–7)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Communication &amp; collaboration</a:t>
            </a:r>
          </a:p>
          <a:p>
            <a:pPr algn="l">
              <a:spcAft>
                <a:spcPts val="300"/>
              </a:spcAft>
            </a:pPr>
            <a:r>
              <a:rPr sz="1100" b="0">
                <a:solidFill>
                  <a:srgbClr val="5B6372"/>
                </a:solidFill>
                <a:latin typeface="Arial"/>
              </a:rPr>
              <a:t>Cloud-based BIM lets everyone access up-to-date models anywhere, any time — estimates, models and design notes in one place.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Less risk</a:t>
            </a:r>
          </a:p>
          <a:p>
            <a:pPr algn="l">
              <a:spcAft>
                <a:spcPts val="300"/>
              </a:spcAft>
            </a:pPr>
            <a:r>
              <a:rPr sz="1100" b="0">
                <a:solidFill>
                  <a:srgbClr val="5B6372"/>
                </a:solidFill>
                <a:latin typeface="Arial"/>
              </a:rPr>
              <a:t>Closer collaboration reduces tender risk premiums, improves on-site safety and removes the risk of building from outdated information.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Better end results</a:t>
            </a:r>
          </a:p>
          <a:p>
            <a:pPr algn="l">
              <a:spcAft>
                <a:spcPts val="300"/>
              </a:spcAft>
            </a:pPr>
            <a:r>
              <a:rPr sz="1100" b="0">
                <a:solidFill>
                  <a:srgbClr val="5B6372"/>
                </a:solidFill>
                <a:latin typeface="Arial"/>
              </a:rPr>
              <a:t>Better planning and earlier visualisation produce a higher-quality build and a higher-quality built asset.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common thread</a:t>
            </a:r>
          </a:p>
          <a:p>
            <a:pPr algn="l">
              <a:spcAft>
                <a:spcPts val="300"/>
              </a:spcAft>
            </a:pPr>
            <a:r>
              <a:rPr sz="1100" b="0">
                <a:solidFill>
                  <a:srgbClr val="5B6372"/>
                </a:solidFill>
                <a:latin typeface="Arial"/>
              </a:rPr>
              <a:t>Every advantage flows from one source: a single shared intelligent model that all stakeholders trust.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REQUIREMENTS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BIM Execution Plan (BEP)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0" y="1801367"/>
            <a:ext cx="4901184" cy="2702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38_img21.png"/>
          <p:cNvPicPr>
            <a:picLocks noChangeAspect="1"/>
          </p:cNvPicPr>
          <p:nvPr/>
        </p:nvPicPr>
        <p:blipFill>
          <a:blip r:embed="rId2"/>
          <a:stretch>
            <a:fillRect/>
          </a:stretch>
        </p:blipFill>
        <p:spPr>
          <a:xfrm>
            <a:off x="6656832" y="1874519"/>
            <a:ext cx="4754880" cy="2555814"/>
          </a:xfrm>
          <a:prstGeom prst="rect">
            <a:avLst/>
          </a:prstGeom>
        </p:spPr>
      </p:pic>
      <p:sp>
        <p:nvSpPr>
          <p:cNvPr id="9" name="TextBox 8"/>
          <p:cNvSpPr txBox="1"/>
          <p:nvPr/>
        </p:nvSpPr>
        <p:spPr>
          <a:xfrm>
            <a:off x="777240" y="1828800"/>
            <a:ext cx="5513832" cy="4297680"/>
          </a:xfrm>
          <a:prstGeom prst="rect">
            <a:avLst/>
          </a:prstGeom>
          <a:noFill/>
        </p:spPr>
        <p:txBody>
          <a:bodyPr wrap="square">
            <a:spAutoFit/>
          </a:bodyPr>
          <a:lstStyle/>
          <a:p>
            <a:pPr>
              <a:spcAft>
                <a:spcPts val="1200"/>
              </a:spcAft>
            </a:pPr>
            <a:r>
              <a:rPr sz="1500" b="0">
                <a:solidFill>
                  <a:srgbClr val="161B26"/>
                </a:solidFill>
                <a:latin typeface="Arial"/>
              </a:rPr>
              <a:t>•  The BEP is the baseline document, approved by the Employer, that guides the project team in achieving the goals set — including BIM deliverables — throughout the project.</a:t>
            </a:r>
          </a:p>
          <a:p>
            <a:pPr>
              <a:spcAft>
                <a:spcPts val="1200"/>
              </a:spcAft>
            </a:pPr>
            <a:r>
              <a:rPr sz="1500" b="0">
                <a:solidFill>
                  <a:srgbClr val="161B26"/>
                </a:solidFill>
                <a:latin typeface="Arial"/>
              </a:rPr>
              <a:t>•  It specifies the roles and responsibilities of project members when using BIM at different stages.</a:t>
            </a:r>
          </a:p>
          <a:p>
            <a:pPr>
              <a:spcAft>
                <a:spcPts val="1200"/>
              </a:spcAft>
            </a:pPr>
            <a:r>
              <a:rPr sz="1500" b="0">
                <a:solidFill>
                  <a:srgbClr val="161B26"/>
                </a:solidFill>
                <a:latin typeface="Arial"/>
              </a:rPr>
              <a:t>•  It details how deliverables are created, coordinated, maintained and shared to satisfy the project goals.</a:t>
            </a:r>
          </a:p>
          <a:p>
            <a:pPr>
              <a:spcAft>
                <a:spcPts val="1200"/>
              </a:spcAft>
            </a:pPr>
            <a:r>
              <a:rPr sz="1500" b="0">
                <a:solidFill>
                  <a:srgbClr val="161B26"/>
                </a:solidFill>
                <a:latin typeface="Arial"/>
              </a:rPr>
              <a:t>•  Defined at project start; updated (with the Employer's or BIM Manager's permission) when members or BIM uses change.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REQUIREMENTS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Typical Content of a BEP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Project information</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Project members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Project goals &amp; BIM uses for each project stage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BIM deliverables for each BIM use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Model author and users for each deliverable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Model elements, level of detail and attributes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Process for BIM creation, maintenance and collaboration</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30952"/>
            <a:ext cx="3973068" cy="768096"/>
          </a:xfrm>
          <a:prstGeom prst="rect">
            <a:avLst/>
          </a:prstGeom>
          <a:noFill/>
        </p:spPr>
        <p:txBody>
          <a:bodyPr wrap="square" anchor="ctr">
            <a:spAutoFit/>
          </a:bodyPr>
          <a:lstStyle/>
          <a:p>
            <a:pPr algn="l">
              <a:spcAft>
                <a:spcPts val="400"/>
              </a:spcAft>
            </a:pPr>
            <a:r>
              <a:rPr sz="1300" b="0">
                <a:solidFill>
                  <a:srgbClr val="161B26"/>
                </a:solidFill>
                <a:latin typeface="Arial"/>
              </a:rPr>
              <a:t>Exchange protocol, submittal format, technology infrastructure &amp; software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REQUIREMENTS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Requirements of BIM — the Information Chain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OIR — Organisational Information Requirements</a:t>
            </a:r>
          </a:p>
          <a:p>
            <a:pPr algn="l">
              <a:spcAft>
                <a:spcPts val="300"/>
              </a:spcAft>
            </a:pPr>
            <a:r>
              <a:rPr sz="1000" b="0">
                <a:solidFill>
                  <a:srgbClr val="5B6372"/>
                </a:solidFill>
                <a:latin typeface="Arial"/>
              </a:rPr>
              <a:t>What the organisation needs to know to run its business.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AIR — Asset Information Requirements</a:t>
            </a:r>
          </a:p>
          <a:p>
            <a:pPr algn="l">
              <a:spcAft>
                <a:spcPts val="300"/>
              </a:spcAft>
            </a:pPr>
            <a:r>
              <a:rPr sz="1000" b="0">
                <a:solidFill>
                  <a:srgbClr val="5B6372"/>
                </a:solidFill>
                <a:latin typeface="Arial"/>
              </a:rPr>
              <a:t>What the organisation needs to know about the assets it is responsible for.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EIR — Employer Information Requirements</a:t>
            </a:r>
          </a:p>
          <a:p>
            <a:pPr algn="l">
              <a:spcAft>
                <a:spcPts val="300"/>
              </a:spcAft>
            </a:pPr>
            <a:r>
              <a:rPr sz="1000" b="0">
                <a:solidFill>
                  <a:srgbClr val="5B6372"/>
                </a:solidFill>
                <a:latin typeface="Arial"/>
              </a:rPr>
              <a:t>The information to be delivered, and the standards and processes to be adopted, for a construction project.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BEP — BIM Execution Plan</a:t>
            </a:r>
          </a:p>
          <a:p>
            <a:pPr algn="l">
              <a:spcAft>
                <a:spcPts val="300"/>
              </a:spcAft>
            </a:pPr>
            <a:r>
              <a:rPr sz="1000" b="0">
                <a:solidFill>
                  <a:srgbClr val="5B6372"/>
                </a:solidFill>
                <a:latin typeface="Arial"/>
              </a:rPr>
              <a:t>The overall vision and implementation details the project team follows throughout the project.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PIM — Project Information Model</a:t>
            </a:r>
          </a:p>
          <a:p>
            <a:pPr algn="l">
              <a:spcAft>
                <a:spcPts val="300"/>
              </a:spcAft>
            </a:pPr>
            <a:r>
              <a:rPr sz="1000" b="0">
                <a:solidFill>
                  <a:srgbClr val="5B6372"/>
                </a:solidFill>
                <a:latin typeface="Arial"/>
              </a:rPr>
              <a:t>The information model developed during the design and construction phase.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AIM — Asset Information Model</a:t>
            </a:r>
          </a:p>
          <a:p>
            <a:pPr algn="l">
              <a:spcAft>
                <a:spcPts val="300"/>
              </a:spcAft>
            </a:pPr>
            <a:r>
              <a:rPr sz="1000" b="0">
                <a:solidFill>
                  <a:srgbClr val="5B6372"/>
                </a:solidFill>
                <a:latin typeface="Arial"/>
              </a:rPr>
              <a:t>Graphical and non-graphical data, documents and metadata that support asset management.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INTRODUCING REVIT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0" y="1801367"/>
            <a:ext cx="4901184" cy="28209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43_img22.png"/>
          <p:cNvPicPr>
            <a:picLocks noChangeAspect="1"/>
          </p:cNvPicPr>
          <p:nvPr/>
        </p:nvPicPr>
        <p:blipFill>
          <a:blip r:embed="rId2"/>
          <a:stretch>
            <a:fillRect/>
          </a:stretch>
        </p:blipFill>
        <p:spPr>
          <a:xfrm>
            <a:off x="6656832" y="1874519"/>
            <a:ext cx="4754880" cy="2674620"/>
          </a:xfrm>
          <a:prstGeom prst="rect">
            <a:avLst/>
          </a:prstGeom>
        </p:spPr>
      </p:pic>
      <p:sp>
        <p:nvSpPr>
          <p:cNvPr id="9" name="TextBox 8"/>
          <p:cNvSpPr txBox="1"/>
          <p:nvPr/>
        </p:nvSpPr>
        <p:spPr>
          <a:xfrm>
            <a:off x="777240" y="1828800"/>
            <a:ext cx="5513832" cy="4297680"/>
          </a:xfrm>
          <a:prstGeom prst="rect">
            <a:avLst/>
          </a:prstGeom>
          <a:noFill/>
        </p:spPr>
        <p:txBody>
          <a:bodyPr wrap="square">
            <a:spAutoFit/>
          </a:bodyPr>
          <a:lstStyle/>
          <a:p>
            <a:pPr>
              <a:spcAft>
                <a:spcPts val="1200"/>
              </a:spcAft>
            </a:pPr>
            <a:r>
              <a:rPr sz="1500" b="0">
                <a:solidFill>
                  <a:srgbClr val="161B26"/>
                </a:solidFill>
                <a:latin typeface="Arial"/>
              </a:rPr>
              <a:t>•  A BIM-based platform used by architects, engineers, contractors and designers to create one unified model of real-life information.</a:t>
            </a:r>
          </a:p>
          <a:p>
            <a:pPr>
              <a:spcAft>
                <a:spcPts val="1200"/>
              </a:spcAft>
            </a:pPr>
            <a:r>
              <a:rPr sz="1500" b="0">
                <a:solidFill>
                  <a:srgbClr val="161B26"/>
                </a:solidFill>
                <a:latin typeface="Arial"/>
              </a:rPr>
              <a:t>•  A design and documentation platform: one integrated building information model to conceptualise, design and document a project.</a:t>
            </a:r>
          </a:p>
          <a:p>
            <a:pPr>
              <a:spcAft>
                <a:spcPts val="1200"/>
              </a:spcAft>
            </a:pPr>
            <a:r>
              <a:rPr sz="1500" b="0">
                <a:solidFill>
                  <a:srgbClr val="161B26"/>
                </a:solidFill>
                <a:latin typeface="Arial"/>
              </a:rPr>
              <a:t>•  Virtual modelling — see the building or infrastructure before it is built on-site.</a:t>
            </a:r>
          </a:p>
          <a:p>
            <a:pPr>
              <a:spcAft>
                <a:spcPts val="1200"/>
              </a:spcAft>
            </a:pPr>
            <a:r>
              <a:rPr sz="1500" b="0">
                <a:solidFill>
                  <a:srgbClr val="161B26"/>
                </a:solidFill>
                <a:latin typeface="Arial"/>
              </a:rPr>
              <a:t>•  Its tools are built for BIM: an intelligent model with data stored in it — helping you avoid rework, minimise cost, detect conflicts before construction and avoid delays.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Introduction to BIM and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Get Started with Revit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Convert 2D Information into a 3D Model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Get Started with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Tour the Revit environment on a real model: open the Autodesk sample architecture project, learn the ribbon, Properties palette, Project Browser and drawing area, then navigate plans, elevations, sections and the 3D 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guided tour of a complete BIM model — you can open any view, orbit the 3D model and inspect element properties.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2024/2025, Autodesk sample project (rac_basic_sample_project.rvt)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Get Started with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Launch Revit. On the Home screen under Models click Open, browse to the Revit sample files and open the basic architecture sample project.</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Home ▸ Models ▸ Open ▸ rac_basic_sample_project.rvt</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Identify the four working zones: the ribbon (tools), the Properties palette (instance/type properties), the Project Browser (all views, schedules, sheets, families) and the drawing area.</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Get Started with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In the Project Browser expand Floor Plans and double-click Level 1. Zoom and pan with the mouse wheel; hover over a wall and read its description on the status bar.</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Project Browser ▸ Floor Plans ▸ Level 1</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Select a wall and inspect the Properties palette: note its Type (in the Type Selector), Base Constraint and Top Constraint. Click Edit Type to view (not change) the type parameters.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Properties ▸ Type Selector / Edit Type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Get Started with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the default 3D view and orbit the model with Shift + middle-mouse drag. Use the ViewCube to jump to Front, Top and corner views.</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Quick Access Toolbar ▸ Default 3D View</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an elevation and a section view from the Project Browser, and tile the windows to see the same model in several views at once.</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View ▸ Windows ▸ Tile Views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Get Started with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name the four zones of the Revit UI, open any plan/elevation/section/3D view from the Project Browser, and read a selected element's type and constraints in the Properties palette — one model driving every view is the essence of BIM.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Convert 2D Information into a 3D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Turn a 2D PDF floor plan into an intelligent 3D model: create gridlines and walls to match the drawing, set the exterior walls to the 12" Generic type and interior walls to the 6" Generic type, constrain wall tops to Level 2 and give the corner a 30 ft radius — then add construction information to the model.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3D building model reproduced from a 2D plan, with correctly typed exterior/interior walls constrained to levels.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2D floor plan PDF (from the LMS lab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Convert 2D Information into a 3D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Start a new project from the Architectural template and link the 2D floor plan PDF into the Level 1 plan view as a reference underlay.</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File ▸ New ▸ Project ▸ Architectural Template · Insert ▸ Link PDF</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Place vertical and horizontal gridlines to match the grid intersections shown on the PDF.</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Datum ▸ Grid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Convert 2D Information into a 3D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Draw the exterior walls over the PDF using the 12" Generic wall type. In the Options Bar set Height to Level 2.</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Build ▸ Wall: Architectural ▸ Generic - 12"</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Draw the interior partition walls with the 6" Generic wall type, also constrained to Level 2.</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Build ▸ Wall: Architectural ▸ Generic - 6"</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Convert 2D Information into a 3D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the curved corner wall with the Fillet Arc draw tool and set the radius to 30 ft (30' 0").</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Modify | Place Wall ▸ Draw ▸ Fillet Arc ▸ Radius = 30'</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the default 3D view and verify the model: all walls rise from Level 1 to Level 2 and the plan matches the PDF. Select any wall and confirm its Top Constraint reads 'Up to level: Level 2'.</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Quick Access Toolbar ▸ Default 3D View</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Convert 2D Information into a 3D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3D view shows a closed building shell that matches the 2D PDF: exterior walls are Generic - 12", interior walls are Generic - 6", every wall's Top Constraint is Level 2, and the corner wall has a 30 ft radius — 2D information has become an intelligent, parametric 3D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Introduction to BIM and Revit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LO1 — Apply Revit for Building Information Modelling (BIM)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BIM Modeling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Develop models for building elements · walls, floors, ceilings, roofs, stairs, structure · site and topography · massing · BIM design integration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ALIGNMENT: K6, K7 · A4, A5 · LO2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BIM Modeling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Everything is parametric</a:t>
            </a:r>
          </a:p>
          <a:p>
            <a:pPr algn="l">
              <a:spcAft>
                <a:spcPts val="300"/>
              </a:spcAft>
            </a:pPr>
            <a:r>
              <a:rPr sz="1100" b="0">
                <a:solidFill>
                  <a:srgbClr val="5B6372"/>
                </a:solidFill>
                <a:latin typeface="Arial"/>
              </a:rPr>
              <a:t>Each component has parametric qualities — change the model once and every related view, schedule and sheet updates automatically.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Model with the right tool</a:t>
            </a:r>
          </a:p>
          <a:p>
            <a:pPr algn="l">
              <a:spcAft>
                <a:spcPts val="300"/>
              </a:spcAft>
            </a:pPr>
            <a:r>
              <a:rPr sz="1100" b="0">
                <a:solidFill>
                  <a:srgbClr val="5B6372"/>
                </a:solidFill>
                <a:latin typeface="Arial"/>
              </a:rPr>
              <a:t>Walls, curtain walls, floors, ceilings, roofs, stairs, railings — each element is created with its dedicated tool and family type.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Structure lives in the model</a:t>
            </a:r>
          </a:p>
          <a:p>
            <a:pPr algn="l">
              <a:spcAft>
                <a:spcPts val="300"/>
              </a:spcAft>
            </a:pPr>
            <a:r>
              <a:rPr sz="1100" b="0">
                <a:solidFill>
                  <a:srgbClr val="5B6372"/>
                </a:solidFill>
                <a:latin typeface="Arial"/>
              </a:rPr>
              <a:t>Structural columns, beams, beam systems, trusses and braces carry the load path inside the same coordinated model.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Site gives context</a:t>
            </a:r>
          </a:p>
          <a:p>
            <a:pPr algn="l">
              <a:spcAft>
                <a:spcPts val="300"/>
              </a:spcAft>
            </a:pPr>
            <a:r>
              <a:rPr sz="1100" b="0">
                <a:solidFill>
                  <a:srgbClr val="5B6372"/>
                </a:solidFill>
                <a:latin typeface="Arial"/>
              </a:rPr>
              <a:t>Toposurfaces, subregions, graded regions and building pads model the terrain the building sits 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Mass first, detail later</a:t>
            </a:r>
          </a:p>
          <a:p>
            <a:pPr algn="l">
              <a:spcAft>
                <a:spcPts val="300"/>
              </a:spcAft>
            </a:pPr>
            <a:r>
              <a:rPr sz="1100" b="0">
                <a:solidFill>
                  <a:srgbClr val="5B6372"/>
                </a:solidFill>
                <a:latin typeface="Arial"/>
              </a:rPr>
              <a:t>Conceptual masses and generative design (Dynamo) explore building volumes before committing to detailed elements.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Families drive integration</a:t>
            </a:r>
          </a:p>
          <a:p>
            <a:pPr algn="l">
              <a:spcAft>
                <a:spcPts val="300"/>
              </a:spcAft>
            </a:pPr>
            <a:r>
              <a:rPr sz="1100" b="0">
                <a:solidFill>
                  <a:srgbClr val="5B6372"/>
                </a:solidFill>
                <a:latin typeface="Arial"/>
              </a:rPr>
              <a:t>System, loadable and in-place families — with materials and parameters — integrate design information into every element.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REVIT MODELING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 Models for Building Elements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Parametric objects</a:t>
            </a:r>
          </a:p>
          <a:p>
            <a:pPr algn="l">
              <a:spcAft>
                <a:spcPts val="300"/>
              </a:spcAft>
            </a:pPr>
            <a:r>
              <a:rPr sz="1100" b="0">
                <a:solidFill>
                  <a:srgbClr val="5B6372"/>
                </a:solidFill>
                <a:latin typeface="Arial"/>
              </a:rPr>
              <a:t>Each component has parametric qualities that drive its behaviour.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Quick changes, no repetition</a:t>
            </a:r>
          </a:p>
          <a:p>
            <a:pPr algn="l">
              <a:spcAft>
                <a:spcPts val="300"/>
              </a:spcAft>
            </a:pPr>
            <a:r>
              <a:rPr sz="1100" b="0">
                <a:solidFill>
                  <a:srgbClr val="5B6372"/>
                </a:solidFill>
                <a:latin typeface="Arial"/>
              </a:rPr>
              <a:t>One change updates every related component, view, detail and document automatically.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Construction documentation</a:t>
            </a:r>
          </a:p>
          <a:p>
            <a:pPr algn="l">
              <a:spcAft>
                <a:spcPts val="300"/>
              </a:spcAft>
            </a:pPr>
            <a:r>
              <a:rPr sz="1100" b="0">
                <a:solidFill>
                  <a:srgbClr val="5B6372"/>
                </a:solidFill>
                <a:latin typeface="Arial"/>
              </a:rPr>
              <a:t>High-quality documentation produced automatically from the 3D model.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Quantities &amp; cost estimation</a:t>
            </a:r>
          </a:p>
          <a:p>
            <a:pPr algn="l">
              <a:spcAft>
                <a:spcPts val="300"/>
              </a:spcAft>
            </a:pPr>
            <a:r>
              <a:rPr sz="1100" b="0">
                <a:solidFill>
                  <a:srgbClr val="5B6372"/>
                </a:solidFill>
                <a:latin typeface="Arial"/>
              </a:rPr>
              <a:t>Generated automatically from the data inserted in the model.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Coordination &amp; 3D visualisation</a:t>
            </a:r>
          </a:p>
          <a:p>
            <a:pPr algn="l">
              <a:spcAft>
                <a:spcPts val="300"/>
              </a:spcAft>
            </a:pPr>
            <a:r>
              <a:rPr sz="1100" b="0">
                <a:solidFill>
                  <a:srgbClr val="5B6372"/>
                </a:solidFill>
                <a:latin typeface="Arial"/>
              </a:rPr>
              <a:t>Shared models reduce conflicts and communicate design to client and team.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Interoperability</a:t>
            </a:r>
          </a:p>
          <a:p>
            <a:pPr algn="l">
              <a:spcAft>
                <a:spcPts val="300"/>
              </a:spcAft>
            </a:pPr>
            <a:r>
              <a:rPr sz="1100" b="0">
                <a:solidFill>
                  <a:srgbClr val="5B6372"/>
                </a:solidFill>
                <a:latin typeface="Arial"/>
              </a:rPr>
              <a:t>Revit imports, exports and links data in common formats such as IFC.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WALLS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3747" y="1728216"/>
            <a:ext cx="10744200" cy="1364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48_img23.png"/>
          <p:cNvPicPr>
            <a:picLocks noChangeAspect="1"/>
          </p:cNvPicPr>
          <p:nvPr/>
        </p:nvPicPr>
        <p:blipFill>
          <a:blip r:embed="rId2"/>
          <a:stretch>
            <a:fillRect/>
          </a:stretch>
        </p:blipFill>
        <p:spPr>
          <a:xfrm>
            <a:off x="778611" y="1783080"/>
            <a:ext cx="10634472" cy="1254438"/>
          </a:xfrm>
          <a:prstGeom prst="rect">
            <a:avLst/>
          </a:prstGeom>
        </p:spPr>
      </p:pic>
      <p:sp>
        <p:nvSpPr>
          <p:cNvPr id="9" name="TextBox 8"/>
          <p:cNvSpPr txBox="1"/>
          <p:nvPr/>
        </p:nvSpPr>
        <p:spPr>
          <a:xfrm>
            <a:off x="777240" y="3311838"/>
            <a:ext cx="10607040" cy="2997522"/>
          </a:xfrm>
          <a:prstGeom prst="rect">
            <a:avLst/>
          </a:prstGeom>
          <a:noFill/>
        </p:spPr>
        <p:txBody>
          <a:bodyPr wrap="square">
            <a:spAutoFit/>
          </a:bodyPr>
          <a:lstStyle/>
          <a:p>
            <a:pPr>
              <a:spcAft>
                <a:spcPts val="1000"/>
              </a:spcAft>
            </a:pPr>
            <a:r>
              <a:rPr sz="1400" b="0">
                <a:solidFill>
                  <a:srgbClr val="161B26"/>
                </a:solidFill>
                <a:latin typeface="Arial"/>
              </a:rPr>
              <a:t>•  Add instances of a wall type in a floor plan or 3D view: Architecture ▸ Build ▸ Wall ▸ Wall: Architectural (structural walls work the same way).</a:t>
            </a:r>
          </a:p>
          <a:p>
            <a:pPr>
              <a:spcAft>
                <a:spcPts val="1000"/>
              </a:spcAft>
            </a:pPr>
            <a:r>
              <a:rPr sz="1400" b="0">
                <a:solidFill>
                  <a:srgbClr val="161B26"/>
                </a:solidFill>
                <a:latin typeface="Arial"/>
              </a:rPr>
              <a:t>•  Pick the wall type in the Type Selector; adjust instance properties in the Properties palette before placing.</a:t>
            </a:r>
          </a:p>
          <a:p>
            <a:pPr>
              <a:spcAft>
                <a:spcPts val="1000"/>
              </a:spcAft>
            </a:pPr>
            <a:r>
              <a:rPr sz="1400" b="0">
                <a:solidFill>
                  <a:srgbClr val="161B26"/>
                </a:solidFill>
                <a:latin typeface="Arial"/>
              </a:rPr>
              <a:t>•  Options Bar: Level (base constraint), Height (top constraint), Location Line (which plane follows the cursor), Chain, Offset and Join Status.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WALLS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Wall Placement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01367"/>
            <a:ext cx="4352544" cy="395015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51_img24.png"/>
          <p:cNvPicPr>
            <a:picLocks noChangeAspect="1"/>
          </p:cNvPicPr>
          <p:nvPr/>
        </p:nvPicPr>
        <p:blipFill>
          <a:blip r:embed="rId2"/>
          <a:stretch>
            <a:fillRect/>
          </a:stretch>
        </p:blipFill>
        <p:spPr>
          <a:xfrm>
            <a:off x="7205472" y="1874519"/>
            <a:ext cx="4206240" cy="3803849"/>
          </a:xfrm>
          <a:prstGeom prst="rect">
            <a:avLst/>
          </a:prstGeom>
        </p:spPr>
      </p:pic>
      <p:sp>
        <p:nvSpPr>
          <p:cNvPr id="9" name="TextBox 8"/>
          <p:cNvSpPr txBox="1"/>
          <p:nvPr/>
        </p:nvSpPr>
        <p:spPr>
          <a:xfrm>
            <a:off x="777240" y="1828800"/>
            <a:ext cx="6062472" cy="4297680"/>
          </a:xfrm>
          <a:prstGeom prst="rect">
            <a:avLst/>
          </a:prstGeom>
          <a:noFill/>
        </p:spPr>
        <p:txBody>
          <a:bodyPr wrap="square">
            <a:spAutoFit/>
          </a:bodyPr>
          <a:lstStyle/>
          <a:p>
            <a:pPr>
              <a:spcAft>
                <a:spcPts val="1200"/>
              </a:spcAft>
            </a:pPr>
            <a:r>
              <a:rPr sz="1500" b="0">
                <a:solidFill>
                  <a:srgbClr val="161B26"/>
                </a:solidFill>
                <a:latin typeface="Arial"/>
              </a:rPr>
              <a:t>•  Location Line — align the wall's centreline, core face or finish face with the cursor as you draw.</a:t>
            </a:r>
          </a:p>
          <a:p>
            <a:pPr>
              <a:spcAft>
                <a:spcPts val="1200"/>
              </a:spcAft>
            </a:pPr>
            <a:r>
              <a:rPr sz="1500" b="0">
                <a:solidFill>
                  <a:srgbClr val="161B26"/>
                </a:solidFill>
                <a:latin typeface="Arial"/>
              </a:rPr>
              <a:t>•  Chain — draw a series of wall segments connected at endpoints.</a:t>
            </a:r>
          </a:p>
          <a:p>
            <a:pPr>
              <a:spcAft>
                <a:spcPts val="1200"/>
              </a:spcAft>
            </a:pPr>
            <a:r>
              <a:rPr sz="1500" b="0">
                <a:solidFill>
                  <a:srgbClr val="161B26"/>
                </a:solidFill>
                <a:latin typeface="Arial"/>
              </a:rPr>
              <a:t>•  Offset — place the wall's location line at a distance from the cursor or a picked line/face.</a:t>
            </a:r>
          </a:p>
          <a:p>
            <a:pPr>
              <a:spcAft>
                <a:spcPts val="1200"/>
              </a:spcAft>
            </a:pPr>
            <a:r>
              <a:rPr sz="1500" b="0">
                <a:solidFill>
                  <a:srgbClr val="161B26"/>
                </a:solidFill>
                <a:latin typeface="Arial"/>
              </a:rPr>
              <a:t>•  Join Status — Allow creates a butt join where walls intersect; Disallow prevents joining.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WALLS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Stacked and Embedded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863840" y="1801367"/>
            <a:ext cx="3621024" cy="22951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52_img25.png"/>
          <p:cNvPicPr>
            <a:picLocks noChangeAspect="1"/>
          </p:cNvPicPr>
          <p:nvPr/>
        </p:nvPicPr>
        <p:blipFill>
          <a:blip r:embed="rId2"/>
          <a:stretch>
            <a:fillRect/>
          </a:stretch>
        </p:blipFill>
        <p:spPr>
          <a:xfrm>
            <a:off x="7936992" y="1874519"/>
            <a:ext cx="3474720" cy="2148840"/>
          </a:xfrm>
          <a:prstGeom prst="rect">
            <a:avLst/>
          </a:prstGeom>
        </p:spPr>
      </p:pic>
      <p:sp>
        <p:nvSpPr>
          <p:cNvPr id="9" name="TextBox 8"/>
          <p:cNvSpPr txBox="1"/>
          <p:nvPr/>
        </p:nvSpPr>
        <p:spPr>
          <a:xfrm>
            <a:off x="777240" y="1828800"/>
            <a:ext cx="6793992" cy="4297680"/>
          </a:xfrm>
          <a:prstGeom prst="rect">
            <a:avLst/>
          </a:prstGeom>
          <a:noFill/>
        </p:spPr>
        <p:txBody>
          <a:bodyPr wrap="square">
            <a:spAutoFit/>
          </a:bodyPr>
          <a:lstStyle/>
          <a:p>
            <a:pPr>
              <a:spcAft>
                <a:spcPts val="1200"/>
              </a:spcAft>
            </a:pPr>
            <a:r>
              <a:rPr sz="1500" b="0">
                <a:solidFill>
                  <a:srgbClr val="161B26"/>
                </a:solidFill>
                <a:latin typeface="Arial"/>
              </a:rPr>
              <a:t>•  Stacked walls: two or more subwalls of different thicknesses stacked at different heights — attached, with joined geometry.</a:t>
            </a:r>
          </a:p>
          <a:p>
            <a:pPr>
              <a:spcAft>
                <a:spcPts val="1200"/>
              </a:spcAft>
            </a:pPr>
            <a:r>
              <a:rPr sz="1500" b="0">
                <a:solidFill>
                  <a:srgbClr val="161B26"/>
                </a:solidFill>
                <a:latin typeface="Arial"/>
              </a:rPr>
              <a:t>•  Embed a wall into a host wall (wall-in-wall, wall-in-curtain-wall or curtain-wall-in-wall).</a:t>
            </a:r>
          </a:p>
          <a:p>
            <a:pPr>
              <a:spcAft>
                <a:spcPts val="1200"/>
              </a:spcAft>
            </a:pPr>
            <a:r>
              <a:rPr sz="1500" b="0">
                <a:solidFill>
                  <a:srgbClr val="161B26"/>
                </a:solidFill>
                <a:latin typeface="Arial"/>
              </a:rPr>
              <a:t>•  The embedded wall must be smaller than its host; use Cut Geometry, picking the HOST wall first, then the wall to embed.</a:t>
            </a:r>
          </a:p>
          <a:p>
            <a:pPr>
              <a:spcAft>
                <a:spcPts val="1200"/>
              </a:spcAft>
            </a:pPr>
            <a:r>
              <a:rPr sz="1500" b="0">
                <a:solidFill>
                  <a:srgbClr val="161B26"/>
                </a:solidFill>
                <a:latin typeface="Arial"/>
              </a:rPr>
              <a:t>•  Resize an embedded wall with its drag controls after embedding.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CURTAIN WALLS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Curtain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28538" y="1801367"/>
            <a:ext cx="4856326" cy="4306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57_img28.png"/>
          <p:cNvPicPr>
            <a:picLocks noChangeAspect="1"/>
          </p:cNvPicPr>
          <p:nvPr/>
        </p:nvPicPr>
        <p:blipFill>
          <a:blip r:embed="rId2"/>
          <a:stretch>
            <a:fillRect/>
          </a:stretch>
        </p:blipFill>
        <p:spPr>
          <a:xfrm>
            <a:off x="6701690" y="1874519"/>
            <a:ext cx="4710022" cy="4160520"/>
          </a:xfrm>
          <a:prstGeom prst="rect">
            <a:avLst/>
          </a:prstGeom>
        </p:spPr>
      </p:pic>
      <p:sp>
        <p:nvSpPr>
          <p:cNvPr id="9" name="TextBox 8"/>
          <p:cNvSpPr txBox="1"/>
          <p:nvPr/>
        </p:nvSpPr>
        <p:spPr>
          <a:xfrm>
            <a:off x="777240" y="1828800"/>
            <a:ext cx="5558690" cy="4297680"/>
          </a:xfrm>
          <a:prstGeom prst="rect">
            <a:avLst/>
          </a:prstGeom>
          <a:noFill/>
        </p:spPr>
        <p:txBody>
          <a:bodyPr wrap="square">
            <a:spAutoFit/>
          </a:bodyPr>
          <a:lstStyle/>
          <a:p>
            <a:pPr>
              <a:spcAft>
                <a:spcPts val="1200"/>
              </a:spcAft>
            </a:pPr>
            <a:r>
              <a:rPr sz="1500" b="0">
                <a:solidFill>
                  <a:srgbClr val="161B26"/>
                </a:solidFill>
                <a:latin typeface="Arial"/>
              </a:rPr>
              <a:t>•  A curtain wall is placed like any wall — just select a curtain wall type (Curtain Wall 1, Exterior Glazing, Storefront) in the Type Selector.</a:t>
            </a:r>
          </a:p>
          <a:p>
            <a:pPr>
              <a:spcAft>
                <a:spcPts val="1200"/>
              </a:spcAft>
            </a:pPr>
            <a:r>
              <a:rPr sz="1500" b="0">
                <a:solidFill>
                  <a:srgbClr val="161B26"/>
                </a:solidFill>
                <a:latin typeface="Arial"/>
              </a:rPr>
              <a:t>•  Divide the wall into panels with Curtain Grid; customise grids with Add/Remove Segments.</a:t>
            </a:r>
          </a:p>
          <a:p>
            <a:pPr>
              <a:spcAft>
                <a:spcPts val="1200"/>
              </a:spcAft>
            </a:pPr>
            <a:r>
              <a:rPr sz="1500" b="0">
                <a:solidFill>
                  <a:srgbClr val="161B26"/>
                </a:solidFill>
                <a:latin typeface="Arial"/>
              </a:rPr>
              <a:t>•  Place mullions on grid lines; Tab-select any panel to change its type — even to a door panel.</a:t>
            </a:r>
          </a:p>
          <a:p>
            <a:pPr>
              <a:spcAft>
                <a:spcPts val="1200"/>
              </a:spcAft>
            </a:pPr>
            <a:r>
              <a:rPr sz="1500" b="0">
                <a:solidFill>
                  <a:srgbClr val="161B26"/>
                </a:solidFill>
                <a:latin typeface="Arial"/>
              </a:rPr>
              <a:t>•  Doors and walls can be embedded within curtain panels.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FLOORS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Floors and Openings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3747" y="1728216"/>
            <a:ext cx="10744200" cy="1364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48_img23.png"/>
          <p:cNvPicPr>
            <a:picLocks noChangeAspect="1"/>
          </p:cNvPicPr>
          <p:nvPr/>
        </p:nvPicPr>
        <p:blipFill>
          <a:blip r:embed="rId2"/>
          <a:stretch>
            <a:fillRect/>
          </a:stretch>
        </p:blipFill>
        <p:spPr>
          <a:xfrm>
            <a:off x="778611" y="1783080"/>
            <a:ext cx="10634472" cy="1254438"/>
          </a:xfrm>
          <a:prstGeom prst="rect">
            <a:avLst/>
          </a:prstGeom>
        </p:spPr>
      </p:pic>
      <p:sp>
        <p:nvSpPr>
          <p:cNvPr id="9" name="TextBox 8"/>
          <p:cNvSpPr txBox="1"/>
          <p:nvPr/>
        </p:nvSpPr>
        <p:spPr>
          <a:xfrm>
            <a:off x="777240" y="3311838"/>
            <a:ext cx="10607040" cy="2997522"/>
          </a:xfrm>
          <a:prstGeom prst="rect">
            <a:avLst/>
          </a:prstGeom>
          <a:noFill/>
        </p:spPr>
        <p:txBody>
          <a:bodyPr wrap="square">
            <a:spAutoFit/>
          </a:bodyPr>
          <a:lstStyle/>
          <a:p>
            <a:pPr>
              <a:spcAft>
                <a:spcPts val="1000"/>
              </a:spcAft>
            </a:pPr>
            <a:r>
              <a:rPr sz="1400" b="0">
                <a:solidFill>
                  <a:srgbClr val="161B26"/>
                </a:solidFill>
                <a:latin typeface="Arial"/>
              </a:rPr>
              <a:t>•  Create a floor by picking walls or sketching its boundary — the boundary must be a closed loop; sketch a second loop inside to form an opening.</a:t>
            </a:r>
          </a:p>
          <a:p>
            <a:pPr>
              <a:spcAft>
                <a:spcPts val="1000"/>
              </a:spcAft>
            </a:pPr>
            <a:r>
              <a:rPr sz="1400" b="0">
                <a:solidFill>
                  <a:srgbClr val="161B26"/>
                </a:solidFill>
                <a:latin typeface="Arial"/>
              </a:rPr>
              <a:t>•  Options Bar: Offset for floor edges; 'Extend into wall (to core)' measures the offset from the wall's core.</a:t>
            </a:r>
          </a:p>
          <a:p>
            <a:pPr>
              <a:spcAft>
                <a:spcPts val="1000"/>
              </a:spcAft>
            </a:pPr>
            <a:r>
              <a:rPr sz="1400" b="0">
                <a:solidFill>
                  <a:srgbClr val="161B26"/>
                </a:solidFill>
                <a:latin typeface="Arial"/>
              </a:rPr>
              <a:t>•  Opening tools: By Face (perpendicular to the face), Vertical (perpendicular to a level), Shaft (cuts every level it spans), Wall Opening and Dormer.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FLOORS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Shaft Openings and View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49440" y="1801367"/>
            <a:ext cx="4535424" cy="2967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63_img30.png"/>
          <p:cNvPicPr>
            <a:picLocks noChangeAspect="1"/>
          </p:cNvPicPr>
          <p:nvPr/>
        </p:nvPicPr>
        <p:blipFill>
          <a:blip r:embed="rId2"/>
          <a:stretch>
            <a:fillRect/>
          </a:stretch>
        </p:blipFill>
        <p:spPr>
          <a:xfrm>
            <a:off x="7022592" y="1874519"/>
            <a:ext cx="4389120" cy="2821041"/>
          </a:xfrm>
          <a:prstGeom prst="rect">
            <a:avLst/>
          </a:prstGeom>
        </p:spPr>
      </p:pic>
      <p:sp>
        <p:nvSpPr>
          <p:cNvPr id="9" name="TextBox 8"/>
          <p:cNvSpPr txBox="1"/>
          <p:nvPr/>
        </p:nvSpPr>
        <p:spPr>
          <a:xfrm>
            <a:off x="777240" y="1828800"/>
            <a:ext cx="5879592" cy="4297680"/>
          </a:xfrm>
          <a:prstGeom prst="rect">
            <a:avLst/>
          </a:prstGeom>
          <a:noFill/>
        </p:spPr>
        <p:txBody>
          <a:bodyPr wrap="square">
            <a:spAutoFit/>
          </a:bodyPr>
          <a:lstStyle/>
          <a:p>
            <a:pPr>
              <a:spcAft>
                <a:spcPts val="1200"/>
              </a:spcAft>
            </a:pPr>
            <a:r>
              <a:rPr sz="1500" b="0">
                <a:solidFill>
                  <a:srgbClr val="161B26"/>
                </a:solidFill>
                <a:latin typeface="Arial"/>
              </a:rPr>
              <a:t>•  A Shaft cuts through roofs, floors and ceilings across its Base and Top Constraints — move it on one level and it moves on all levels.</a:t>
            </a:r>
          </a:p>
          <a:p>
            <a:pPr>
              <a:spcAft>
                <a:spcPts val="1200"/>
              </a:spcAft>
            </a:pPr>
            <a:r>
              <a:rPr sz="1500" b="0">
                <a:solidFill>
                  <a:srgbClr val="161B26"/>
                </a:solidFill>
                <a:latin typeface="Arial"/>
              </a:rPr>
              <a:t>•  Every plan view has a View Range: Top, Cut Plane and Bottom planes define what is shown and how.</a:t>
            </a:r>
          </a:p>
          <a:p>
            <a:pPr>
              <a:spcAft>
                <a:spcPts val="1200"/>
              </a:spcAft>
            </a:pPr>
            <a:r>
              <a:rPr sz="1500" b="0">
                <a:solidFill>
                  <a:srgbClr val="161B26"/>
                </a:solidFill>
                <a:latin typeface="Arial"/>
              </a:rPr>
              <a:t>•  View Depth adds a plane beyond the primary range to show elements below the bottom clip plane.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CEILINGS &amp; ROOFS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Ceilings and Roofs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49440" y="1801367"/>
            <a:ext cx="4535424" cy="26151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67_img33.png"/>
          <p:cNvPicPr>
            <a:picLocks noChangeAspect="1"/>
          </p:cNvPicPr>
          <p:nvPr/>
        </p:nvPicPr>
        <p:blipFill>
          <a:blip r:embed="rId2"/>
          <a:stretch>
            <a:fillRect/>
          </a:stretch>
        </p:blipFill>
        <p:spPr>
          <a:xfrm>
            <a:off x="7022592" y="1874519"/>
            <a:ext cx="4389120" cy="2468879"/>
          </a:xfrm>
          <a:prstGeom prst="rect">
            <a:avLst/>
          </a:prstGeom>
        </p:spPr>
      </p:pic>
      <p:sp>
        <p:nvSpPr>
          <p:cNvPr id="9" name="TextBox 8"/>
          <p:cNvSpPr txBox="1"/>
          <p:nvPr/>
        </p:nvSpPr>
        <p:spPr>
          <a:xfrm>
            <a:off x="777240" y="1828800"/>
            <a:ext cx="5879592" cy="4297680"/>
          </a:xfrm>
          <a:prstGeom prst="rect">
            <a:avLst/>
          </a:prstGeom>
          <a:noFill/>
        </p:spPr>
        <p:txBody>
          <a:bodyPr wrap="square">
            <a:spAutoFit/>
          </a:bodyPr>
          <a:lstStyle/>
          <a:p>
            <a:pPr>
              <a:spcAft>
                <a:spcPts val="1200"/>
              </a:spcAft>
            </a:pPr>
            <a:r>
              <a:rPr sz="1500" b="0">
                <a:solidFill>
                  <a:srgbClr val="161B26"/>
                </a:solidFill>
                <a:latin typeface="Arial"/>
              </a:rPr>
              <a:t>•  Ceilings are placed in a reflected ceiling plan — Automatic Ceiling fills a closed wall loop; Sketch Ceiling draws a custom boundary.</a:t>
            </a:r>
          </a:p>
          <a:p>
            <a:pPr>
              <a:spcAft>
                <a:spcPts val="1200"/>
              </a:spcAft>
            </a:pPr>
            <a:r>
              <a:rPr sz="1500" b="0">
                <a:solidFill>
                  <a:srgbClr val="161B26"/>
                </a:solidFill>
                <a:latin typeface="Arial"/>
              </a:rPr>
              <a:t>•  Roof by Footprint: sketch/pick a closed loop in a plan view; slope-defining edges create hips and gables.</a:t>
            </a:r>
          </a:p>
          <a:p>
            <a:pPr>
              <a:spcAft>
                <a:spcPts val="1200"/>
              </a:spcAft>
            </a:pPr>
            <a:r>
              <a:rPr sz="1500" b="0">
                <a:solidFill>
                  <a:srgbClr val="161B26"/>
                </a:solidFill>
                <a:latin typeface="Arial"/>
              </a:rPr>
              <a:t>•  A roof cannot cut through windows or doors.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CEILINGS &amp; ROOFS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Roof by Extrusion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0" y="1801367"/>
            <a:ext cx="3986784" cy="3363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70_img36.png"/>
          <p:cNvPicPr>
            <a:picLocks noChangeAspect="1"/>
          </p:cNvPicPr>
          <p:nvPr/>
        </p:nvPicPr>
        <p:blipFill>
          <a:blip r:embed="rId2"/>
          <a:stretch>
            <a:fillRect/>
          </a:stretch>
        </p:blipFill>
        <p:spPr>
          <a:xfrm>
            <a:off x="7571232" y="1874519"/>
            <a:ext cx="3840480" cy="3217204"/>
          </a:xfrm>
          <a:prstGeom prst="rect">
            <a:avLst/>
          </a:prstGeom>
        </p:spPr>
      </p:pic>
      <p:sp>
        <p:nvSpPr>
          <p:cNvPr id="9" name="TextBox 8"/>
          <p:cNvSpPr txBox="1"/>
          <p:nvPr/>
        </p:nvSpPr>
        <p:spPr>
          <a:xfrm>
            <a:off x="777240" y="1828800"/>
            <a:ext cx="6428232" cy="4297680"/>
          </a:xfrm>
          <a:prstGeom prst="rect">
            <a:avLst/>
          </a:prstGeom>
          <a:noFill/>
        </p:spPr>
        <p:txBody>
          <a:bodyPr wrap="square">
            <a:spAutoFit/>
          </a:bodyPr>
          <a:lstStyle/>
          <a:p>
            <a:pPr>
              <a:spcAft>
                <a:spcPts val="1200"/>
              </a:spcAft>
            </a:pPr>
            <a:r>
              <a:rPr sz="1500" b="0">
                <a:solidFill>
                  <a:srgbClr val="161B26"/>
                </a:solidFill>
                <a:latin typeface="Arial"/>
              </a:rPr>
              <a:t>•  Create a roof by extruding an open-loop profile sketched in an elevation, 3D or section view.</a:t>
            </a:r>
          </a:p>
          <a:p>
            <a:pPr>
              <a:spcAft>
                <a:spcPts val="1200"/>
              </a:spcAft>
            </a:pPr>
            <a:r>
              <a:rPr sz="1500" b="0">
                <a:solidFill>
                  <a:srgbClr val="161B26"/>
                </a:solidFill>
                <a:latin typeface="Arial"/>
              </a:rPr>
              <a:t>•  Set the Roof Reference Level and Offset — a reference plane controls the roof's position.</a:t>
            </a:r>
          </a:p>
          <a:p>
            <a:pPr>
              <a:spcAft>
                <a:spcPts val="1200"/>
              </a:spcAft>
            </a:pPr>
            <a:r>
              <a:rPr sz="1500" b="0">
                <a:solidFill>
                  <a:srgbClr val="161B26"/>
                </a:solidFill>
                <a:latin typeface="Arial"/>
              </a:rPr>
              <a:t>•  After creating it, attach walls to the roof, rehost it or edit its work plane.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CIRCULATION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Stairs and Railings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3747" y="1728216"/>
            <a:ext cx="10744200" cy="1364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48_img23.png"/>
          <p:cNvPicPr>
            <a:picLocks noChangeAspect="1"/>
          </p:cNvPicPr>
          <p:nvPr/>
        </p:nvPicPr>
        <p:blipFill>
          <a:blip r:embed="rId2"/>
          <a:stretch>
            <a:fillRect/>
          </a:stretch>
        </p:blipFill>
        <p:spPr>
          <a:xfrm>
            <a:off x="778611" y="1783080"/>
            <a:ext cx="10634472" cy="1254438"/>
          </a:xfrm>
          <a:prstGeom prst="rect">
            <a:avLst/>
          </a:prstGeom>
        </p:spPr>
      </p:pic>
      <p:sp>
        <p:nvSpPr>
          <p:cNvPr id="9" name="TextBox 8"/>
          <p:cNvSpPr txBox="1"/>
          <p:nvPr/>
        </p:nvSpPr>
        <p:spPr>
          <a:xfrm>
            <a:off x="777240" y="3311838"/>
            <a:ext cx="10607040" cy="2997522"/>
          </a:xfrm>
          <a:prstGeom prst="rect">
            <a:avLst/>
          </a:prstGeom>
          <a:noFill/>
        </p:spPr>
        <p:txBody>
          <a:bodyPr wrap="square">
            <a:spAutoFit/>
          </a:bodyPr>
          <a:lstStyle/>
          <a:p>
            <a:pPr>
              <a:spcAft>
                <a:spcPts val="1000"/>
              </a:spcAft>
            </a:pPr>
            <a:r>
              <a:rPr sz="1400" b="0">
                <a:solidFill>
                  <a:srgbClr val="161B26"/>
                </a:solidFill>
                <a:latin typeface="Arial"/>
              </a:rPr>
              <a:t>•  Stairs assemble from components in edit mode: runs (straight, spiral, U-, L-shaped, sketched), landings, supports and railings.</a:t>
            </a:r>
          </a:p>
          <a:p>
            <a:pPr>
              <a:spcAft>
                <a:spcPts val="1000"/>
              </a:spcAft>
            </a:pPr>
            <a:r>
              <a:rPr sz="1400" b="0">
                <a:solidFill>
                  <a:srgbClr val="161B26"/>
                </a:solidFill>
                <a:latin typeface="Arial"/>
              </a:rPr>
              <a:t>•  Railings: free-standing on levels, attached to hosts (floors, ramps, stairs), auto-created with stairs, or sketched with a custom path and Pick New Host.</a:t>
            </a:r>
          </a:p>
          <a:p>
            <a:pPr>
              <a:spcAft>
                <a:spcPts val="1000"/>
              </a:spcAft>
            </a:pPr>
            <a:r>
              <a:rPr sz="1400" b="0">
                <a:solidFill>
                  <a:srgbClr val="161B26"/>
                </a:solidFill>
                <a:latin typeface="Arial"/>
              </a:rPr>
              <a:t>•  Tile plan + 3D views while assembling to see the full stair model as you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SITE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Site and Topography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766560" y="1801367"/>
            <a:ext cx="4718304" cy="2242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75_img40.png"/>
          <p:cNvPicPr>
            <a:picLocks noChangeAspect="1"/>
          </p:cNvPicPr>
          <p:nvPr/>
        </p:nvPicPr>
        <p:blipFill>
          <a:blip r:embed="rId2"/>
          <a:stretch>
            <a:fillRect/>
          </a:stretch>
        </p:blipFill>
        <p:spPr>
          <a:xfrm>
            <a:off x="6839712" y="1874519"/>
            <a:ext cx="4572000" cy="2096108"/>
          </a:xfrm>
          <a:prstGeom prst="rect">
            <a:avLst/>
          </a:prstGeom>
        </p:spPr>
      </p:pic>
      <p:sp>
        <p:nvSpPr>
          <p:cNvPr id="9" name="TextBox 8"/>
          <p:cNvSpPr txBox="1"/>
          <p:nvPr/>
        </p:nvSpPr>
        <p:spPr>
          <a:xfrm>
            <a:off x="777240" y="1828800"/>
            <a:ext cx="5696712" cy="4297680"/>
          </a:xfrm>
          <a:prstGeom prst="rect">
            <a:avLst/>
          </a:prstGeom>
          <a:noFill/>
        </p:spPr>
        <p:txBody>
          <a:bodyPr wrap="square">
            <a:spAutoFit/>
          </a:bodyPr>
          <a:lstStyle/>
          <a:p>
            <a:pPr>
              <a:spcAft>
                <a:spcPts val="1200"/>
              </a:spcAft>
            </a:pPr>
            <a:r>
              <a:rPr sz="1500" b="0">
                <a:solidFill>
                  <a:srgbClr val="161B26"/>
                </a:solidFill>
                <a:latin typeface="Arial"/>
              </a:rPr>
              <a:t>•  The Toposurface tool defines terrain from points placed at absolute or relative elevations, in 3D or site plan views.</a:t>
            </a:r>
          </a:p>
          <a:p>
            <a:pPr>
              <a:spcAft>
                <a:spcPts val="1200"/>
              </a:spcAft>
            </a:pPr>
            <a:r>
              <a:rPr sz="1500" b="0">
                <a:solidFill>
                  <a:srgbClr val="161B26"/>
                </a:solidFill>
                <a:latin typeface="Arial"/>
              </a:rPr>
              <a:t>•  Subregion applies different properties (e.g. material) to an area; Split and Merge Surfaces divide and rejoin terrain; Graded Region develops the proposed site design.</a:t>
            </a:r>
          </a:p>
          <a:p>
            <a:pPr>
              <a:spcAft>
                <a:spcPts val="1200"/>
              </a:spcAft>
            </a:pPr>
            <a:r>
              <a:rPr sz="1500" b="0">
                <a:solidFill>
                  <a:srgbClr val="161B26"/>
                </a:solidFill>
                <a:latin typeface="Arial"/>
              </a:rPr>
              <a:t>•  A Building Pad sketched on the toposurface cuts the terrain at a controlled level offset — with openings and slope if needed.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STRUCTURE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Structural Columns and Framing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6720" y="1801367"/>
            <a:ext cx="3438144" cy="34381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83_img56.png"/>
          <p:cNvPicPr>
            <a:picLocks noChangeAspect="1"/>
          </p:cNvPicPr>
          <p:nvPr/>
        </p:nvPicPr>
        <p:blipFill>
          <a:blip r:embed="rId2"/>
          <a:stretch>
            <a:fillRect/>
          </a:stretch>
        </p:blipFill>
        <p:spPr>
          <a:xfrm>
            <a:off x="8119872" y="1874519"/>
            <a:ext cx="3291840" cy="3291840"/>
          </a:xfrm>
          <a:prstGeom prst="rect">
            <a:avLst/>
          </a:prstGeom>
        </p:spPr>
      </p:pic>
      <p:sp>
        <p:nvSpPr>
          <p:cNvPr id="9" name="TextBox 8"/>
          <p:cNvSpPr txBox="1"/>
          <p:nvPr/>
        </p:nvSpPr>
        <p:spPr>
          <a:xfrm>
            <a:off x="777240" y="1828800"/>
            <a:ext cx="6976872" cy="4297680"/>
          </a:xfrm>
          <a:prstGeom prst="rect">
            <a:avLst/>
          </a:prstGeom>
          <a:noFill/>
        </p:spPr>
        <p:txBody>
          <a:bodyPr wrap="square">
            <a:spAutoFit/>
          </a:bodyPr>
          <a:lstStyle/>
          <a:p>
            <a:pPr>
              <a:spcAft>
                <a:spcPts val="1200"/>
              </a:spcAft>
            </a:pPr>
            <a:r>
              <a:rPr sz="1500" b="0">
                <a:solidFill>
                  <a:srgbClr val="161B26"/>
                </a:solidFill>
                <a:latin typeface="Arial"/>
              </a:rPr>
              <a:t>•  Structural columns add vertical load-bearing elements: Structure ▸ Column, or At Grids for batch placement.</a:t>
            </a:r>
          </a:p>
          <a:p>
            <a:pPr>
              <a:spcAft>
                <a:spcPts val="1200"/>
              </a:spcAft>
            </a:pPr>
            <a:r>
              <a:rPr sz="1500" b="0">
                <a:solidFill>
                  <a:srgbClr val="161B26"/>
                </a:solidFill>
                <a:latin typeface="Arial"/>
              </a:rPr>
              <a:t>•  Beams span supports; a Beam System fills a boundary with members per a layout rule; 3D option for sloped systems.</a:t>
            </a:r>
          </a:p>
          <a:p>
            <a:pPr>
              <a:spcAft>
                <a:spcPts val="1200"/>
              </a:spcAft>
            </a:pPr>
            <a:r>
              <a:rPr sz="1500" b="0">
                <a:solidFill>
                  <a:srgbClr val="161B26"/>
                </a:solidFill>
                <a:latin typeface="Arial"/>
              </a:rPr>
              <a:t>•  Trusses place framing per the selected truss family's layout; braces sketch diagonally between structural elements in plan or framing elevations.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MASSING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Conceptual Masses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3747" y="1728216"/>
            <a:ext cx="10744200" cy="166348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92_img64.png"/>
          <p:cNvPicPr>
            <a:picLocks noChangeAspect="1"/>
          </p:cNvPicPr>
          <p:nvPr/>
        </p:nvPicPr>
        <p:blipFill>
          <a:blip r:embed="rId2"/>
          <a:stretch>
            <a:fillRect/>
          </a:stretch>
        </p:blipFill>
        <p:spPr>
          <a:xfrm>
            <a:off x="778611" y="1783080"/>
            <a:ext cx="10634472" cy="1553761"/>
          </a:xfrm>
          <a:prstGeom prst="rect">
            <a:avLst/>
          </a:prstGeom>
        </p:spPr>
      </p:pic>
      <p:sp>
        <p:nvSpPr>
          <p:cNvPr id="9" name="TextBox 8"/>
          <p:cNvSpPr txBox="1"/>
          <p:nvPr/>
        </p:nvSpPr>
        <p:spPr>
          <a:xfrm>
            <a:off x="777240" y="3611161"/>
            <a:ext cx="10607040" cy="2698199"/>
          </a:xfrm>
          <a:prstGeom prst="rect">
            <a:avLst/>
          </a:prstGeom>
          <a:noFill/>
        </p:spPr>
        <p:txBody>
          <a:bodyPr wrap="square">
            <a:spAutoFit/>
          </a:bodyPr>
          <a:lstStyle/>
          <a:p>
            <a:pPr>
              <a:spcAft>
                <a:spcPts val="1000"/>
              </a:spcAft>
            </a:pPr>
            <a:r>
              <a:rPr sz="1400" b="0">
                <a:solidFill>
                  <a:srgbClr val="161B26"/>
                </a:solidFill>
                <a:latin typeface="Arial"/>
              </a:rPr>
              <a:t>•  Mass modeling drafts conceptual volumes fast — as Conceptual Mass families (outside the project) or In-Place Masses (inside it).</a:t>
            </a:r>
          </a:p>
          <a:p>
            <a:pPr>
              <a:spcAft>
                <a:spcPts val="1000"/>
              </a:spcAft>
            </a:pPr>
            <a:r>
              <a:rPr sz="1400" b="0">
                <a:solidFill>
                  <a:srgbClr val="161B26"/>
                </a:solidFill>
                <a:latin typeface="Arial"/>
              </a:rPr>
              <a:t>•  Use massing studies for design options, phase representation, zoning compliance (visually and numerically) and assembling complex forms from mass families.</a:t>
            </a:r>
          </a:p>
          <a:p>
            <a:pPr>
              <a:spcAft>
                <a:spcPts val="1000"/>
              </a:spcAft>
            </a:pPr>
            <a:r>
              <a:rPr sz="1400" b="0">
                <a:solidFill>
                  <a:srgbClr val="161B26"/>
                </a:solidFill>
                <a:latin typeface="Arial"/>
              </a:rPr>
              <a:t>•  Generate floors, roofs, curtain systems and walls from mass instances — regenerating under control when the mass changes; schedule gross volume, floor area and surface area.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GENERATIVE DESIGN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Generative Design and Dynamo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0" y="1801367"/>
            <a:ext cx="5084064" cy="32324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94_img65.png"/>
          <p:cNvPicPr>
            <a:picLocks noChangeAspect="1"/>
          </p:cNvPicPr>
          <p:nvPr/>
        </p:nvPicPr>
        <p:blipFill>
          <a:blip r:embed="rId2"/>
          <a:stretch>
            <a:fillRect/>
          </a:stretch>
        </p:blipFill>
        <p:spPr>
          <a:xfrm>
            <a:off x="6473952" y="1874519"/>
            <a:ext cx="4937760" cy="3086100"/>
          </a:xfrm>
          <a:prstGeom prst="rect">
            <a:avLst/>
          </a:prstGeom>
        </p:spPr>
      </p:pic>
      <p:sp>
        <p:nvSpPr>
          <p:cNvPr id="9" name="TextBox 8"/>
          <p:cNvSpPr txBox="1"/>
          <p:nvPr/>
        </p:nvSpPr>
        <p:spPr>
          <a:xfrm>
            <a:off x="777240" y="1828800"/>
            <a:ext cx="5330952" cy="4297680"/>
          </a:xfrm>
          <a:prstGeom prst="rect">
            <a:avLst/>
          </a:prstGeom>
          <a:noFill/>
        </p:spPr>
        <p:txBody>
          <a:bodyPr wrap="square">
            <a:spAutoFit/>
          </a:bodyPr>
          <a:lstStyle/>
          <a:p>
            <a:pPr>
              <a:spcAft>
                <a:spcPts val="1200"/>
              </a:spcAft>
            </a:pPr>
            <a:r>
              <a:rPr sz="1500" b="0">
                <a:solidFill>
                  <a:srgbClr val="161B26"/>
                </a:solidFill>
                <a:latin typeface="Arial"/>
              </a:rPr>
              <a:t>•  Generative design (AEC Collection) generates design alternatives from your inputs, constraints and goals.</a:t>
            </a:r>
          </a:p>
          <a:p>
            <a:pPr>
              <a:spcAft>
                <a:spcPts val="1200"/>
              </a:spcAft>
            </a:pPr>
            <a:r>
              <a:rPr sz="1500" b="0">
                <a:solidFill>
                  <a:srgbClr val="161B26"/>
                </a:solidFill>
                <a:latin typeface="Arial"/>
              </a:rPr>
              <a:t>•  Dynamo is Revit's visual-programming add-in — open-source graphical programming for custom computational design and BIM automation.</a:t>
            </a:r>
          </a:p>
          <a:p>
            <a:pPr>
              <a:spcAft>
                <a:spcPts val="1200"/>
              </a:spcAft>
            </a:pPr>
            <a:r>
              <a:rPr sz="1500" b="0">
                <a:solidFill>
                  <a:srgbClr val="161B26"/>
                </a:solidFill>
                <a:latin typeface="Arial"/>
              </a:rPr>
              <a:t>•  Workflow: build a Dynamo graph, declare Is Input / Is Output on nodes, export for generative design, then review the study's outcomes.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FAMILIES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and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The three kinds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Loading &amp; catalogs</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System families</a:t>
            </a:r>
          </a:p>
          <a:p>
            <a:pPr>
              <a:spcAft>
                <a:spcPts val="1000"/>
              </a:spcAft>
            </a:pPr>
            <a:r>
              <a:rPr sz="1400" b="0">
                <a:solidFill>
                  <a:srgbClr val="5B6372"/>
                </a:solidFill>
                <a:latin typeface="Arial"/>
              </a:rPr>
              <a:t>–  Walls, roofs, floors, ducts, pipes — predefined in Revit, never loaded from external files</a:t>
            </a:r>
          </a:p>
          <a:p>
            <a:pPr>
              <a:spcAft>
                <a:spcPts val="1000"/>
              </a:spcAft>
            </a:pPr>
            <a:r>
              <a:rPr sz="1400" b="0">
                <a:solidFill>
                  <a:srgbClr val="5B6372"/>
                </a:solidFill>
                <a:latin typeface="Arial"/>
              </a:rPr>
              <a:t>–  Levels, grids, sheets and viewports are system families too</a:t>
            </a:r>
          </a:p>
          <a:p>
            <a:pPr>
              <a:spcAft>
                <a:spcPts val="1000"/>
              </a:spcAft>
            </a:pPr>
            <a:r>
              <a:rPr sz="1600" b="0">
                <a:solidFill>
                  <a:srgbClr val="161B26"/>
                </a:solidFill>
                <a:latin typeface="Arial"/>
              </a:rPr>
              <a:t>•  In-place families</a:t>
            </a:r>
          </a:p>
          <a:p>
            <a:pPr>
              <a:spcAft>
                <a:spcPts val="1000"/>
              </a:spcAft>
            </a:pPr>
            <a:r>
              <a:rPr sz="1400" b="0">
                <a:solidFill>
                  <a:srgbClr val="5B6372"/>
                </a:solidFill>
                <a:latin typeface="Arial"/>
              </a:rPr>
              <a:t>–  Unique, project-specific elements created with Family Editor tools</a:t>
            </a:r>
          </a:p>
          <a:p>
            <a:pPr>
              <a:spcAft>
                <a:spcPts val="1000"/>
              </a:spcAft>
            </a:pPr>
            <a:r>
              <a:rPr sz="1400" b="0">
                <a:solidFill>
                  <a:srgbClr val="5B6372"/>
                </a:solidFill>
                <a:latin typeface="Arial"/>
              </a:rPr>
              <a:t>–  Reference other geometry and adjust when it changes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Loadable families</a:t>
            </a:r>
          </a:p>
          <a:p>
            <a:pPr>
              <a:spcAft>
                <a:spcPts val="1000"/>
              </a:spcAft>
            </a:pPr>
            <a:r>
              <a:rPr sz="1400" b="0">
                <a:solidFill>
                  <a:srgbClr val="5B6372"/>
                </a:solidFill>
                <a:latin typeface="Arial"/>
              </a:rPr>
              <a:t>–  Windows, doors, casework, fixtures, furniture, boilers, plumbing — RFA files loaded via Insert ▸ Load Family</a:t>
            </a:r>
          </a:p>
          <a:p>
            <a:pPr>
              <a:spcAft>
                <a:spcPts val="1000"/>
              </a:spcAft>
            </a:pPr>
            <a:r>
              <a:rPr sz="1400" b="0">
                <a:solidFill>
                  <a:srgbClr val="5B6372"/>
                </a:solidFill>
                <a:latin typeface="Arial"/>
              </a:rPr>
              <a:t>–  Combine into nested and shared families</a:t>
            </a:r>
          </a:p>
          <a:p>
            <a:pPr>
              <a:spcAft>
                <a:spcPts val="1000"/>
              </a:spcAft>
            </a:pPr>
            <a:r>
              <a:rPr sz="1600" b="0">
                <a:solidFill>
                  <a:srgbClr val="161B26"/>
                </a:solidFill>
                <a:latin typeface="Arial"/>
              </a:rPr>
              <a:t>•  Type catalogs</a:t>
            </a:r>
          </a:p>
          <a:p>
            <a:pPr>
              <a:spcAft>
                <a:spcPts val="1000"/>
              </a:spcAft>
            </a:pPr>
            <a:r>
              <a:rPr sz="1400" b="0">
                <a:solidFill>
                  <a:srgbClr val="5B6372"/>
                </a:solidFill>
                <a:latin typeface="Arial"/>
              </a:rPr>
              <a:t>–  Load only the types you need from large families (e.g. one C-Channel size, not dozens)</a:t>
            </a:r>
          </a:p>
          <a:p>
            <a:pPr>
              <a:spcAft>
                <a:spcPts val="1000"/>
              </a:spcAft>
            </a:pPr>
            <a:r>
              <a:rPr sz="1400" b="0">
                <a:solidFill>
                  <a:srgbClr val="5B6372"/>
                </a:solidFill>
                <a:latin typeface="Arial"/>
              </a:rPr>
              <a:t>–  Keeps project size down and the Type Selector short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MATERIALS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Materials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0" y="1801367"/>
            <a:ext cx="3986784" cy="2853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080_img42.png"/>
          <p:cNvPicPr>
            <a:picLocks noChangeAspect="1"/>
          </p:cNvPicPr>
          <p:nvPr/>
        </p:nvPicPr>
        <p:blipFill>
          <a:blip r:embed="rId2"/>
          <a:stretch>
            <a:fillRect/>
          </a:stretch>
        </p:blipFill>
        <p:spPr>
          <a:xfrm>
            <a:off x="7571232" y="1874519"/>
            <a:ext cx="3840480" cy="2707676"/>
          </a:xfrm>
          <a:prstGeom prst="rect">
            <a:avLst/>
          </a:prstGeom>
        </p:spPr>
      </p:pic>
      <p:sp>
        <p:nvSpPr>
          <p:cNvPr id="9" name="TextBox 8"/>
          <p:cNvSpPr txBox="1"/>
          <p:nvPr/>
        </p:nvSpPr>
        <p:spPr>
          <a:xfrm>
            <a:off x="777240" y="1828800"/>
            <a:ext cx="6428232" cy="4297680"/>
          </a:xfrm>
          <a:prstGeom prst="rect">
            <a:avLst/>
          </a:prstGeom>
          <a:noFill/>
        </p:spPr>
        <p:txBody>
          <a:bodyPr wrap="square">
            <a:spAutoFit/>
          </a:bodyPr>
          <a:lstStyle/>
          <a:p>
            <a:pPr>
              <a:spcAft>
                <a:spcPts val="1200"/>
              </a:spcAft>
            </a:pPr>
            <a:r>
              <a:rPr sz="1500" b="0">
                <a:solidFill>
                  <a:srgbClr val="161B26"/>
                </a:solidFill>
                <a:latin typeface="Arial"/>
              </a:rPr>
              <a:t>•  Materials control how elements display in views and rendered images: Manage ▸ Settings ▸ Materials.</a:t>
            </a:r>
          </a:p>
          <a:p>
            <a:pPr>
              <a:spcAft>
                <a:spcPts val="1200"/>
              </a:spcAft>
            </a:pPr>
            <a:r>
              <a:rPr sz="1500" b="0">
                <a:solidFill>
                  <a:srgbClr val="161B26"/>
                </a:solidFill>
                <a:latin typeface="Arial"/>
              </a:rPr>
              <a:t>•  They define Graphics, Appearance, Thermal and Physical information — for visualisation, analysis and scheduling.</a:t>
            </a:r>
          </a:p>
          <a:p>
            <a:pPr>
              <a:spcAft>
                <a:spcPts val="1200"/>
              </a:spcAft>
            </a:pPr>
            <a:r>
              <a:rPr sz="1500" b="0">
                <a:solidFill>
                  <a:srgbClr val="161B26"/>
                </a:solidFill>
                <a:latin typeface="Arial"/>
              </a:rPr>
              <a:t>•  Apply by category or subcategory, by family, by element parameter, or by face with the Paint tool.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BIM Modeling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3–4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Modeling Walls — Reveals, Embedded and Curtain Walls</a:t>
            </a:r>
          </a:p>
          <a:p>
            <a:pPr>
              <a:spcAft>
                <a:spcPts val="900"/>
              </a:spcAft>
            </a:pPr>
            <a:r>
              <a:rPr sz="1400" b="0">
                <a:solidFill>
                  <a:srgbClr val="161B26"/>
                </a:solidFill>
                <a:latin typeface="Arial"/>
              </a:rPr>
              <a:t>•  Floors, Ceilings, Roofs and Openings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5–6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Stairs, Railings and Structural Elements</a:t>
            </a:r>
          </a:p>
          <a:p>
            <a:pPr>
              <a:spcAft>
                <a:spcPts val="900"/>
              </a:spcAft>
            </a:pPr>
            <a:r>
              <a:rPr sz="1400" b="0">
                <a:solidFill>
                  <a:srgbClr val="161B26"/>
                </a:solidFill>
                <a:latin typeface="Arial"/>
              </a:rPr>
              <a:t>•  Terrain, Building Pad and Conceptual Mass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Walls — Reveals, Embedded and Curtain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Work with advanced wall modeling on the Embed Walls project: place brick-course wall reveals on an elevation, duplicate a wall type into a new Vertical Cladding type, embed the new walls into an existing wall with Cut Geometry, and add a curtain wall with grids and mullions.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facade with three positioned reveals, embedded Vertical Cladding walls joined into the host wall, and a gridded curtain wall.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Embed Walls.rvt (LMS lab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Walls — Reveals, Embedded and Curtain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Embed Walls.rvt. Start the Wall: Reveal tool, edit its type properties and change the profile to Reveal-Brick Course: 3 Bricks.</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Build ▸ Wall ▸ Wall: Reveal ▸ Edit Type</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Place three reveals on the end elevation wall at the dimensions given in the drawing, each with Offset from Wall = 1".</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Modify | Place Reveal ▸ set Offset from Wall = 1"</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Walls — Reveals, Embedded and Curtain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the Floor 2 plan. Start a new wall, select the Stone on CMU type, duplicate it and name the new type Vertical Cladding; change Layer 1's material to Cladding, Vertical Ribbed.</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Wall ▸ Edit Type ▸ Duplicate ▸ 'Vertical Cladding'</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Draw three lengths of the Vertical Cladding wall per the plan dimensions, with Base Constraint = Floor 2 and Top Constraint = Roof, then Align their tops/bottoms to the reveals.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Modify ▸ Align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Walls — Reveals, Embedded and Curtain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Use Cut Geometry to embed the Vertical Cladding walls into the existing host wall (pick the host first), then Join Geometry to remove the end edges in plan.</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Modify ▸ Geometry ▸ Cut / Join</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Add a curtain wall: place a wall with a curtain wall type, divide it with Curtain Grid, and place mullions on the grid lines. Tab-select a panel and swap its type in the Type Selector.</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Wall ▸ Curtain Wall 1 · Architecture ▸ Build ▸ Curtain Grid / Mullion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Modeling Walls — Reveals, Embedded and Curtain Walls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elevation shows three brick-course reveals at the specified dimensions; the Vertical Cladding walls sit flush inside the host wall with clean joins in plan; and the curtain wall shows a grid of panels with mullions — Tab-selection lets you re-type any single panel.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Floors, Ceilings, Roofs and Openings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Complete the horizontal envelope of the building: create a floor by picking walls, add a ceiling in a reflected ceiling plan, create a roof by footprint with slope-defining edges and a second roof by extrusion, then cut a vertical shaft opening through the levels.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building with floors, ceilings, a footprint roof and an extruded roof, plus a shaft opening cutting through every level.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your Lab 2 model (or the LMS lab file)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Floors, Ceilings, Roofs and Openings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the Level 1 floor: pick the exterior walls as boundaries (Extend into wall (to core)), and finish the sketch — the boundary must be a closed loop.</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Build ▸ Floor: Architectural ▸ Pick Walls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the Level 1 ceiling plan and place a ceiling with Automatic Ceiling by clicking inside the walls that form a closed loop.</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Build ▸ Ceiling ▸ Automatic Ceiling</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Floors, Ceilings, Roofs and Openings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the main roof by footprint on Level 2: pick the walls with an overhang, keep Defines Slope on for all edges, and finish — then open 3D to see the hips form.</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Build ▸ Roof ▸ Roof by Footprint</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 porch roof by extrusion: in an elevation view sketch an open-loop profile and extrude it, then Attach the porch walls to the underside of the roof.</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Build ▸ Roof ▸ Roof by Extrusion · Modify Wall ▸ Attach Top/Base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Floors, Ceilings, Roofs and Openings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Cut a shaft for the stair: sketch a closed loop with the Shaft tool, set Base Constraint = Level 1 and Top Constraint = Roof, and finish the opening.</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Opening ▸ Shaft</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Verify in a section view that the shaft cuts the floor and ceiling on every intermediate level, and use By Face / Vertical openings where a duct or chimney penetrates the roof.</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Opening ▸ By Face / Vertical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Floors, Ceilings, Roofs and Openings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section view shows floor, ceiling and both roofs in place; the shaft opening cuts cleanly through every level it spans; and moving the shaft in one plan moves it on all levels — the model stays coordinated because every view reads the same database.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Stairs, Railings and Structural Elements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Add vertical circulation and the load path: assemble a stair from runs and landings, host a railing on a floor edge with Sketch Path, then place structural columns on the grid intersections and frame them with beams, a beam system and a brace.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stair with railings connecting two levels, plus a structural frame of columns, beams, a beam system and a brace.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your Lab 2/4 model (or the LMS lab file)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Stairs, Railings and Structural Elements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 stair between Level 1 and Level 2: in stair assembly mode place a straight Run; a landing is created automatically between two runs. Finish and inspect it in 3D.</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Circulation ▸ Stair ▸ Run</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Add a railing along the Level 2 floor edge: Sketch Path, draw the railing line, use Pick New Host to host it on the floor, and finish.</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Architecture ▸ Circulation ▸ Railing ▸ Sketch Path ▸ Pick New Host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Stairs, Railings and Structural Elements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Place structural columns at grid intersections from Level 1 to Level 2 (use At Grids to place several at once).</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Structure ▸ Structure ▸ Column ▸ At Grids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Draw beams between column tops on Level 2, snapping from column to column.</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Structure ▸ Structure ▸ Beam</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Stairs, Railings and Structural Elements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Fill a bay with a Beam System: sketch its boundary with Pick Supports, set the Beam Type and Layout Rule (e.g. Fixed Distance), and finish.</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Structure ▸ Structure ▸ Beam System ▸ Sketch Beam System</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a framing elevation and add a diagonal Brace between a column and a beam, snapping to their ends.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Structure ▸ Structure ▸ Brace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Stairs, Railings and Structural Elements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stair connects the two levels with automatically generated railings; columns stand on every chosen grid intersection; the beam system spaces its members per the layout rule; and the brace runs diagonally in the framing elevation — the architectural and structural elements coexist in one coordinated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Terrain, Building Pad and Conceptual Mass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Set the building into its site: create a toposurface by placing points at different elevations, add a building pad from the foundation footprint, frame the 3D view with a section box, apply a grass material — then explore an in-place conceptual mass and preview generative design with Dynamo.</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site terrain with a building pad cut into it, a realistic 3D view, and an in-place conceptual mass volume.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GSG_03_Terrain_Pad.rvt (LMS lab files), Dynamo</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Terrain, Building Pad and Conceptual Mass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GSG_03_Terrain_Pad.rvt and the Site plan. Start Toposurface and place points around the building at Elevation 0, then rings of points further out at higher elevations to slope the ground.</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Massing &amp; Site ▸ Model Site ▸ Toposurface ▸ Place Point</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Finish the surface and open the 3D view — the terrain now buries part of the building.</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Massing &amp; Site ▸ Toposurface ▸ ✓ Finish Surface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Terrain, Building Pad and Conceptual Mass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Add a Building Pad: sketch its boundary with Pick Walls on the foundation walls, set the pad level, and finish — the pad cuts the terrain away from the building.</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Massing &amp; Site ▸ Model Site ▸ Building Pad</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Frame the model with a Section Box in the 3D view's properties and drag its grips to crop the terrain neatly around the building.</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3D View ▸ Properties ▸ Section Box</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Terrain, Building Pad and Conceptual Mass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Select the toposurface, and in the Material parameter choose a grass material for a realistic render, then explore Subregion, Split Surface and Graded Region on the Massing &amp; Site tab.</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Toposurface ▸ Properties ▸ Material ▸ Grass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an In-Place Mass: name it, sketch a profile and create a form, then Finish Mass — and open Manage ▸ Dynamo to see how a graph of nodes can drive such geometry for generative design.</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Massing &amp; Site ▸ Conceptual Mass ▸ In-Place Mass · Manage ▸ Dynamo</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Terrain, Building Pad and Conceptual Mass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3D view shows the building sitting in a grass-covered terrain with a clean pad cut into the slope, the section box crops the site tidily, and your in-place mass appears as a volume you could later turn into walls, floors and roofs — site, mass and building live in one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BIM Modeling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LO2 — Develop models and integrate design for BIM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BIM Application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Apply and operate BIM · technologies used in BIM · interpret output · schedules and quantity takeoffs · analyse performance and check compliance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ALIGNMENT: K5 · A6, A7, A8 · LO3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BIM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BIM manages the build</a:t>
            </a:r>
          </a:p>
          <a:p>
            <a:pPr algn="l">
              <a:spcAft>
                <a:spcPts val="300"/>
              </a:spcAft>
            </a:pPr>
            <a:r>
              <a:rPr sz="1100" b="0">
                <a:solidFill>
                  <a:srgbClr val="5B6372"/>
                </a:solidFill>
                <a:latin typeface="Arial"/>
              </a:rPr>
              <a:t>Construction simulation, information statistics and real-time monitoring strengthen quality and process management on site.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Views interpret the model</a:t>
            </a:r>
          </a:p>
          <a:p>
            <a:pPr algn="l">
              <a:spcAft>
                <a:spcPts val="300"/>
              </a:spcAft>
            </a:pPr>
            <a:r>
              <a:rPr sz="1100" b="0">
                <a:solidFill>
                  <a:srgbClr val="5B6372"/>
                </a:solidFill>
                <a:latin typeface="Arial"/>
              </a:rPr>
              <a:t>View range, view templates, callouts and section views turn one model into many purpose-built, readable outputs.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Schedules read the database</a:t>
            </a:r>
          </a:p>
          <a:p>
            <a:pPr algn="l">
              <a:spcAft>
                <a:spcPts val="300"/>
              </a:spcAft>
            </a:pPr>
            <a:r>
              <a:rPr sz="1100" b="0">
                <a:solidFill>
                  <a:srgbClr val="5B6372"/>
                </a:solidFill>
                <a:latin typeface="Arial"/>
              </a:rPr>
              <a:t>Schedules and quantity takeoffs tabulate elements straight from the model — the model IS the quantity database.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 from the model</a:t>
            </a:r>
          </a:p>
          <a:p>
            <a:pPr algn="l">
              <a:spcAft>
                <a:spcPts val="300"/>
              </a:spcAft>
            </a:pPr>
            <a:r>
              <a:rPr sz="1100" b="0">
                <a:solidFill>
                  <a:srgbClr val="5B6372"/>
                </a:solidFill>
                <a:latin typeface="Arial"/>
              </a:rPr>
              <a:t>Calculated-value formulas and material takeoffs produce preliminary cost estimates that update as the design changes.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Analyse before you build</a:t>
            </a:r>
          </a:p>
          <a:p>
            <a:pPr algn="l">
              <a:spcAft>
                <a:spcPts val="300"/>
              </a:spcAft>
            </a:pPr>
            <a:r>
              <a:rPr sz="1100" b="0">
                <a:solidFill>
                  <a:srgbClr val="5B6372"/>
                </a:solidFill>
                <a:latin typeface="Arial"/>
              </a:rPr>
              <a:t>Revit Systems Analysis translates the model to EnergyPlus to simulate heating, cooling and annual energy performance.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Check, then comply</a:t>
            </a:r>
          </a:p>
          <a:p>
            <a:pPr algn="l">
              <a:spcAft>
                <a:spcPts val="300"/>
              </a:spcAft>
            </a:pPr>
            <a:r>
              <a:rPr sz="1100" b="0">
                <a:solidFill>
                  <a:srgbClr val="5B6372"/>
                </a:solidFill>
                <a:latin typeface="Arial"/>
              </a:rPr>
              <a:t>Interference (clash) checks and analysis reports verify design performance and compliance before construction.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TECHNOLOGY LANDSCAPE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Technologies Used in BIM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66423" y="1755648"/>
            <a:ext cx="4458848" cy="4123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41_img76.png"/>
          <p:cNvPicPr>
            <a:picLocks noChangeAspect="1"/>
          </p:cNvPicPr>
          <p:nvPr/>
        </p:nvPicPr>
        <p:blipFill>
          <a:blip r:embed="rId2"/>
          <a:stretch>
            <a:fillRect/>
          </a:stretch>
        </p:blipFill>
        <p:spPr>
          <a:xfrm>
            <a:off x="3939575" y="1828800"/>
            <a:ext cx="4312544" cy="3977639"/>
          </a:xfrm>
          <a:prstGeom prst="rect">
            <a:avLst/>
          </a:prstGeom>
        </p:spPr>
      </p:pic>
      <p:sp>
        <p:nvSpPr>
          <p:cNvPr id="9" name="TextBox 8"/>
          <p:cNvSpPr txBox="1"/>
          <p:nvPr/>
        </p:nvSpPr>
        <p:spPr>
          <a:xfrm>
            <a:off x="777240" y="594360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The technology stack around BIM: authoring, analysis, collaboration, field and FM tools.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APPLICATION · K5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Application of BIM in Construction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801367"/>
            <a:ext cx="5266944" cy="3346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42_img77.png"/>
          <p:cNvPicPr>
            <a:picLocks noChangeAspect="1"/>
          </p:cNvPicPr>
          <p:nvPr/>
        </p:nvPicPr>
        <p:blipFill>
          <a:blip r:embed="rId2"/>
          <a:stretch>
            <a:fillRect/>
          </a:stretch>
        </p:blipFill>
        <p:spPr>
          <a:xfrm>
            <a:off x="6291072" y="1874519"/>
            <a:ext cx="5120640" cy="3200400"/>
          </a:xfrm>
          <a:prstGeom prst="rect">
            <a:avLst/>
          </a:prstGeom>
        </p:spPr>
      </p:pic>
      <p:sp>
        <p:nvSpPr>
          <p:cNvPr id="9" name="TextBox 8"/>
          <p:cNvSpPr txBox="1"/>
          <p:nvPr/>
        </p:nvSpPr>
        <p:spPr>
          <a:xfrm>
            <a:off x="777240" y="1828800"/>
            <a:ext cx="5148072" cy="4297680"/>
          </a:xfrm>
          <a:prstGeom prst="rect">
            <a:avLst/>
          </a:prstGeom>
          <a:noFill/>
        </p:spPr>
        <p:txBody>
          <a:bodyPr wrap="square">
            <a:spAutoFit/>
          </a:bodyPr>
          <a:lstStyle/>
          <a:p>
            <a:pPr>
              <a:spcAft>
                <a:spcPts val="1200"/>
              </a:spcAft>
            </a:pPr>
            <a:r>
              <a:rPr sz="1500" b="0">
                <a:solidFill>
                  <a:srgbClr val="161B26"/>
                </a:solidFill>
                <a:latin typeface="Arial"/>
              </a:rPr>
              <a:t>•  BIM supports construction simulation and information statistics — management processes become visual and controllable.</a:t>
            </a:r>
          </a:p>
          <a:p>
            <a:pPr>
              <a:spcAft>
                <a:spcPts val="1200"/>
              </a:spcAft>
            </a:pPr>
            <a:r>
              <a:rPr sz="1500" b="0">
                <a:solidFill>
                  <a:srgbClr val="161B26"/>
                </a:solidFill>
                <a:latin typeface="Arial"/>
              </a:rPr>
              <a:t>•  Quality management covers both the product and the technical process.</a:t>
            </a:r>
          </a:p>
          <a:p>
            <a:pPr>
              <a:spcAft>
                <a:spcPts val="1200"/>
              </a:spcAft>
            </a:pPr>
            <a:r>
              <a:rPr sz="1500" b="0">
                <a:solidFill>
                  <a:srgbClr val="161B26"/>
                </a:solidFill>
                <a:latin typeface="Arial"/>
              </a:rPr>
              <a:t>•  Real-time monitoring of the construction process helps ensure construction quality on site.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 OUTPUT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Interpreting the Model — View Range and Callouts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801367"/>
            <a:ext cx="4169664" cy="36654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03_img68.png"/>
          <p:cNvPicPr>
            <a:picLocks noChangeAspect="1"/>
          </p:cNvPicPr>
          <p:nvPr/>
        </p:nvPicPr>
        <p:blipFill>
          <a:blip r:embed="rId2"/>
          <a:stretch>
            <a:fillRect/>
          </a:stretch>
        </p:blipFill>
        <p:spPr>
          <a:xfrm>
            <a:off x="7388352" y="1874519"/>
            <a:ext cx="4023360" cy="3519140"/>
          </a:xfrm>
          <a:prstGeom prst="rect">
            <a:avLst/>
          </a:prstGeom>
        </p:spPr>
      </p:pic>
      <p:sp>
        <p:nvSpPr>
          <p:cNvPr id="9" name="TextBox 8"/>
          <p:cNvSpPr txBox="1"/>
          <p:nvPr/>
        </p:nvSpPr>
        <p:spPr>
          <a:xfrm>
            <a:off x="777240" y="1828800"/>
            <a:ext cx="6245352" cy="4297680"/>
          </a:xfrm>
          <a:prstGeom prst="rect">
            <a:avLst/>
          </a:prstGeom>
          <a:noFill/>
        </p:spPr>
        <p:txBody>
          <a:bodyPr wrap="square">
            <a:spAutoFit/>
          </a:bodyPr>
          <a:lstStyle/>
          <a:p>
            <a:pPr>
              <a:spcAft>
                <a:spcPts val="1200"/>
              </a:spcAft>
            </a:pPr>
            <a:r>
              <a:rPr sz="1500" b="0">
                <a:solidFill>
                  <a:srgbClr val="161B26"/>
                </a:solidFill>
                <a:latin typeface="Arial"/>
              </a:rPr>
              <a:t>•  View Range (Top, Cut Plane, Bottom + View Depth) controls what a plan view shows and how elements are cut.</a:t>
            </a:r>
          </a:p>
          <a:p>
            <a:pPr>
              <a:spcAft>
                <a:spcPts val="1200"/>
              </a:spcAft>
            </a:pPr>
            <a:r>
              <a:rPr sz="1500" b="0">
                <a:solidFill>
                  <a:srgbClr val="161B26"/>
                </a:solidFill>
                <a:latin typeface="Arial"/>
              </a:rPr>
              <a:t>•  Callouts enlarge part of a plan, section, detail or elevation — the callout tag links parent view to callout view.</a:t>
            </a:r>
          </a:p>
          <a:p>
            <a:pPr>
              <a:spcAft>
                <a:spcPts val="1200"/>
              </a:spcAft>
            </a:pPr>
            <a:r>
              <a:rPr sz="1500" b="0">
                <a:solidFill>
                  <a:srgbClr val="161B26"/>
                </a:solidFill>
                <a:latin typeface="Arial"/>
              </a:rPr>
              <a:t>•  Delete the parent view and its callouts go with it; load a callout head to place callout tags.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INTERPRET OUTPUT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Section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3747" y="1728216"/>
            <a:ext cx="10744200" cy="13233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05_img69.png"/>
          <p:cNvPicPr>
            <a:picLocks noChangeAspect="1"/>
          </p:cNvPicPr>
          <p:nvPr/>
        </p:nvPicPr>
        <p:blipFill>
          <a:blip r:embed="rId2"/>
          <a:stretch>
            <a:fillRect/>
          </a:stretch>
        </p:blipFill>
        <p:spPr>
          <a:xfrm>
            <a:off x="778611" y="1783080"/>
            <a:ext cx="10634472" cy="1213594"/>
          </a:xfrm>
          <a:prstGeom prst="rect">
            <a:avLst/>
          </a:prstGeom>
        </p:spPr>
      </p:pic>
      <p:sp>
        <p:nvSpPr>
          <p:cNvPr id="9" name="TextBox 8"/>
          <p:cNvSpPr txBox="1"/>
          <p:nvPr/>
        </p:nvSpPr>
        <p:spPr>
          <a:xfrm>
            <a:off x="777240" y="3270994"/>
            <a:ext cx="10607040" cy="3038366"/>
          </a:xfrm>
          <a:prstGeom prst="rect">
            <a:avLst/>
          </a:prstGeom>
          <a:noFill/>
        </p:spPr>
        <p:txBody>
          <a:bodyPr wrap="square">
            <a:spAutoFit/>
          </a:bodyPr>
          <a:lstStyle/>
          <a:p>
            <a:pPr>
              <a:spcAft>
                <a:spcPts val="1000"/>
              </a:spcAft>
            </a:pPr>
            <a:r>
              <a:rPr sz="1400" b="0">
                <a:solidFill>
                  <a:srgbClr val="161B26"/>
                </a:solidFill>
                <a:latin typeface="Arial"/>
              </a:rPr>
              <a:t>•  Add a section line and crop region to define a new section view: View ▸ Create ▸ Section, drag through the model, resize the crop with the blue controls.</a:t>
            </a:r>
          </a:p>
          <a:p>
            <a:pPr>
              <a:spcAft>
                <a:spcPts val="1000"/>
              </a:spcAft>
            </a:pPr>
            <a:r>
              <a:rPr sz="1400" b="0">
                <a:solidFill>
                  <a:srgbClr val="161B26"/>
                </a:solidFill>
                <a:latin typeface="Arial"/>
              </a:rPr>
              <a:t>•  Open the section by double-clicking its header or from the Project Browser's Sections group.</a:t>
            </a:r>
          </a:p>
          <a:p>
            <a:pPr>
              <a:spcAft>
                <a:spcPts val="1000"/>
              </a:spcAft>
            </a:pPr>
            <a:r>
              <a:rPr sz="1400" b="0">
                <a:solidFill>
                  <a:srgbClr val="161B26"/>
                </a:solidFill>
                <a:latin typeface="Arial"/>
              </a:rPr>
              <a:t>•  The section view updates whenever the design changes or the section line moves.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SCHEDULES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Creating a Schedule or Quantity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View ▸ Schedules ▸ Schedule/Quantities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Pick the category and phase</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Select fields to report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Filter, sort and group the data</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Format the schedule's appearance</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 schedule fills itself from the model</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COST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Quantity Takeoffs and Cost Estimates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Quantity takeoffs</a:t>
            </a:r>
          </a:p>
          <a:p>
            <a:pPr algn="l">
              <a:spcAft>
                <a:spcPts val="300"/>
              </a:spcAft>
            </a:pPr>
            <a:r>
              <a:rPr sz="1100" b="0">
                <a:solidFill>
                  <a:srgbClr val="5B6372"/>
                </a:solidFill>
                <a:latin typeface="Arial"/>
              </a:rPr>
              <a:t>Essential for accurate construction cost estimating — quantify elements from the model and track element-status changes with ongoing analysis.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Material takeoffs</a:t>
            </a:r>
          </a:p>
          <a:p>
            <a:pPr algn="l">
              <a:spcAft>
                <a:spcPts val="300"/>
              </a:spcAft>
            </a:pPr>
            <a:r>
              <a:rPr sz="1100" b="0">
                <a:solidFill>
                  <a:srgbClr val="5B6372"/>
                </a:solidFill>
                <a:latin typeface="Arial"/>
              </a:rPr>
              <a:t>Tabulate materials and areas across categories — more comprehensive than component schedules alone.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Calculated values</a:t>
            </a:r>
          </a:p>
          <a:p>
            <a:pPr algn="l">
              <a:spcAft>
                <a:spcPts val="300"/>
              </a:spcAft>
            </a:pPr>
            <a:r>
              <a:rPr sz="1100" b="0">
                <a:solidFill>
                  <a:srgbClr val="5B6372"/>
                </a:solidFill>
                <a:latin typeface="Arial"/>
              </a:rPr>
              <a:t>Formula-driven reporting fields for schedules and tag labels — e.g. Cost = Area × rate; the Name becomes the column header.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Massing studies</a:t>
            </a:r>
          </a:p>
          <a:p>
            <a:pPr algn="l">
              <a:spcAft>
                <a:spcPts val="300"/>
              </a:spcAft>
            </a:pPr>
            <a:r>
              <a:rPr sz="1100" b="0">
                <a:solidFill>
                  <a:srgbClr val="5B6372"/>
                </a:solidFill>
                <a:latin typeface="Arial"/>
              </a:rPr>
              <a:t>Mass floor schedules report gross volume, floor area and surface area — preliminary cost feedback that updates as the mass changes.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ANALYSE PERFORMANCE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Revit Systems Analysis —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01367"/>
            <a:ext cx="4352544" cy="2626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47_img78.png"/>
          <p:cNvPicPr>
            <a:picLocks noChangeAspect="1"/>
          </p:cNvPicPr>
          <p:nvPr/>
        </p:nvPicPr>
        <p:blipFill>
          <a:blip r:embed="rId2"/>
          <a:stretch>
            <a:fillRect/>
          </a:stretch>
        </p:blipFill>
        <p:spPr>
          <a:xfrm>
            <a:off x="7205472" y="1874519"/>
            <a:ext cx="4206240" cy="2480204"/>
          </a:xfrm>
          <a:prstGeom prst="rect">
            <a:avLst/>
          </a:prstGeom>
        </p:spPr>
      </p:pic>
      <p:sp>
        <p:nvSpPr>
          <p:cNvPr id="9" name="TextBox 8"/>
          <p:cNvSpPr txBox="1"/>
          <p:nvPr/>
        </p:nvSpPr>
        <p:spPr>
          <a:xfrm>
            <a:off x="777240" y="1828800"/>
            <a:ext cx="6062472" cy="4297680"/>
          </a:xfrm>
          <a:prstGeom prst="rect">
            <a:avLst/>
          </a:prstGeom>
          <a:noFill/>
        </p:spPr>
        <p:txBody>
          <a:bodyPr wrap="square">
            <a:spAutoFit/>
          </a:bodyPr>
          <a:lstStyle/>
          <a:p>
            <a:pPr>
              <a:spcAft>
                <a:spcPts val="1200"/>
              </a:spcAft>
            </a:pPr>
            <a:r>
              <a:rPr sz="1500" b="0">
                <a:solidFill>
                  <a:srgbClr val="161B26"/>
                </a:solidFill>
                <a:latin typeface="Arial"/>
              </a:rPr>
              <a:t>•  Set up the model: building elements or masses, plus location; add analytical systems and define system zones; generate and revise analytical spaces.</a:t>
            </a:r>
          </a:p>
          <a:p>
            <a:pPr>
              <a:spcAft>
                <a:spcPts val="1200"/>
              </a:spcAft>
            </a:pPr>
            <a:r>
              <a:rPr sz="1500" b="0">
                <a:solidFill>
                  <a:srgbClr val="161B26"/>
                </a:solidFill>
                <a:latin typeface="Arial"/>
              </a:rPr>
              <a:t>•  Revit translates the data to EnergyPlus, which runs the simulation — two default workflows: system sizing (heating/cooling loads) and annual energy simulation.</a:t>
            </a:r>
          </a:p>
          <a:p>
            <a:pPr>
              <a:spcAft>
                <a:spcPts val="1200"/>
              </a:spcAft>
            </a:pPr>
            <a:r>
              <a:rPr sz="1500" b="0">
                <a:solidFill>
                  <a:srgbClr val="161B26"/>
                </a:solidFill>
                <a:latin typeface="Arial"/>
              </a:rPr>
              <a:t>•  Re-running with the same Building Type, Operating Schedule and Location groups results in the same folder; change them and a new folder is created.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ANALYSE PERFORMANCE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Reviewing Analysis Results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01367"/>
            <a:ext cx="4352544" cy="262010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47_img79.png"/>
          <p:cNvPicPr>
            <a:picLocks noChangeAspect="1"/>
          </p:cNvPicPr>
          <p:nvPr/>
        </p:nvPicPr>
        <p:blipFill>
          <a:blip r:embed="rId2"/>
          <a:stretch>
            <a:fillRect/>
          </a:stretch>
        </p:blipFill>
        <p:spPr>
          <a:xfrm>
            <a:off x="7205472" y="1874519"/>
            <a:ext cx="4206240" cy="2473799"/>
          </a:xfrm>
          <a:prstGeom prst="rect">
            <a:avLst/>
          </a:prstGeom>
        </p:spPr>
      </p:pic>
      <p:sp>
        <p:nvSpPr>
          <p:cNvPr id="9" name="TextBox 8"/>
          <p:cNvSpPr txBox="1"/>
          <p:nvPr/>
        </p:nvSpPr>
        <p:spPr>
          <a:xfrm>
            <a:off x="777240" y="1828800"/>
            <a:ext cx="6062472" cy="4297680"/>
          </a:xfrm>
          <a:prstGeom prst="rect">
            <a:avLst/>
          </a:prstGeom>
          <a:noFill/>
        </p:spPr>
        <p:txBody>
          <a:bodyPr wrap="square">
            <a:spAutoFit/>
          </a:bodyPr>
          <a:lstStyle/>
          <a:p>
            <a:pPr>
              <a:spcAft>
                <a:spcPts val="1200"/>
              </a:spcAft>
            </a:pPr>
            <a:r>
              <a:rPr sz="1500" b="0">
                <a:solidFill>
                  <a:srgbClr val="161B26"/>
                </a:solidFill>
                <a:latin typeface="Arial"/>
              </a:rPr>
              <a:t>•  Reports: Project Browser ▸ Reports ▸ Analysis Reports — a time-stamped report per run; switch Report Style between Detailed and Loads.</a:t>
            </a:r>
          </a:p>
          <a:p>
            <a:pPr>
              <a:spcAft>
                <a:spcPts val="1200"/>
              </a:spcAft>
            </a:pPr>
            <a:r>
              <a:rPr sz="1500" b="0">
                <a:solidFill>
                  <a:srgbClr val="161B26"/>
                </a:solidFill>
                <a:latin typeface="Arial"/>
              </a:rPr>
              <a:t>•  Compare runs: select multiple simulations and click Compare in Results &amp; Compare.</a:t>
            </a:r>
          </a:p>
          <a:p>
            <a:pPr>
              <a:spcAft>
                <a:spcPts val="1200"/>
              </a:spcAft>
            </a:pPr>
            <a:r>
              <a:rPr sz="1500" b="0">
                <a:solidFill>
                  <a:srgbClr val="161B26"/>
                </a:solidFill>
                <a:latin typeface="Arial"/>
              </a:rPr>
              <a:t>•  Peak heating, cooling and airflow demands are also set as properties on each analytical space — the numbers live on the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QUIZ</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Check Your Understanding — BIM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What is a 4D BIM model?</a:t>
            </a:r>
          </a:p>
          <a:p>
            <a:pPr algn="l">
              <a:spcAft>
                <a:spcPts val="300"/>
              </a:spcAft>
            </a:pPr>
            <a:r>
              <a:rPr sz="1100" b="0">
                <a:solidFill>
                  <a:srgbClr val="5B6372"/>
                </a:solidFill>
                <a:latin typeface="Arial"/>
              </a:rPr>
              <a:t>A 3D model with the addition of time or scheduling data.</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Avoiding conflicts between systems?</a:t>
            </a:r>
          </a:p>
          <a:p>
            <a:pPr algn="l">
              <a:spcAft>
                <a:spcPts val="300"/>
              </a:spcAft>
            </a:pPr>
            <a:r>
              <a:rPr sz="1100" b="0">
                <a:solidFill>
                  <a:srgbClr val="5B6372"/>
                </a:solidFill>
                <a:latin typeface="Arial"/>
              </a:rPr>
              <a:t>Stakeholders use clash detection software on the shared model — not emailed copies.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Design authoring is…</a:t>
            </a:r>
          </a:p>
          <a:p>
            <a:pPr algn="l">
              <a:spcAft>
                <a:spcPts val="300"/>
              </a:spcAft>
            </a:pPr>
            <a:r>
              <a:rPr sz="1100" b="0">
                <a:solidFill>
                  <a:srgbClr val="5B6372"/>
                </a:solidFill>
                <a:latin typeface="Arial"/>
              </a:rPr>
              <a:t>The process by which 3D software is used to develop a building information model.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Interference Check</a:t>
            </a:r>
          </a:p>
          <a:p>
            <a:pPr algn="l">
              <a:spcAft>
                <a:spcPts val="300"/>
              </a:spcAft>
            </a:pPr>
            <a:r>
              <a:rPr sz="1100" b="0">
                <a:solidFill>
                  <a:srgbClr val="5B6372"/>
                </a:solidFill>
                <a:latin typeface="Arial"/>
              </a:rPr>
              <a:t>Revit's built-in clash detection: Collaborate ▸ Coordinate ▸ Interference Check.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BIM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View Templates, Schedules and Quantity Takeoffs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Energy Analysis and Design Compliance Checks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View Templates, Schedules and Quantity Takeoffs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Operate BIM to produce controlled, quantified output: build a furniture-layout view with a scope box and visibility/graphic overrides and save it as a view template, then create a door schedule and a wall material takeoff, and add a calculated-value field for a preliminary cost estimate.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styled Floor 2 Furniture Layout view template, a sorted door schedule, and a wall material takeoff with a calculated cost column.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Create View Template.rvt (LMS lab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View Templates, Schedules and Quantity Takeoffs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Create View Template.rvt. Duplicate the Floor 2 plan view and rename it Floor 2 Furniture Layout, then apply the Main Zone scope box to set its crop region.</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Project Browser ▸ Floor 2 ▸ Duplicate View · Properties ▸ Scope Box = Main Zone</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Visibility/Graphic Overrides (VG). Override the Walls Cut pattern to Solid Fill light grey with light-grey lines, and the Furniture projection lines/pattern to red Diagonal Down-Small.</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View ▸ Graphics ▸ Visibility/Graphics (VG)</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View Templates, Schedules and Quantity Takeoffs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On the Annotation Categories tab switch off Sections and set Grids to Halftone, then close VG and review the styled view.</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VG ▸ Annotation Categories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Save the styling as a template: right-click the view ▸ Create View Template From View, and apply it to another duplicate to prove the styling is reusable.</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Right-click view ▸ Create View Template From View</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View Templates, Schedules and Quantity Takeoffs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 door schedule: Schedule/Quantities, category Doors, add fields (Mark, Level, Width, Height, Count), and sort by Level — the schedule fills itself from the model.</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View ▸ Create ▸ Schedules ▸ Schedule/Quantities ▸ Doors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 Material Takeoff for Walls with Material: Name and Material: Area, then add a Calculated Value field (e.g. Cost = Area × unit rate) to produce a preliminary cost estimate.</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View ▸ Schedules ▸ Material Takeoff ▸ Calculated Value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View Templates, Schedules and Quantity Takeoffs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Applying your view template restyles a fresh duplicate in one click; the door schedule lists every door sorted by level and updates when a door is deleted; and the wall takeoff's calculated column prices the walls from live model quantities — the model is the single quantity and cost database.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Energy Analysis and Design Compliance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Analyse design performance and check compliance: set the project location and energy settings, generate the energy analytical model, run a systems analysis (EnergyPlus), read the results and reports, and run an Interference Check between structural and architectural elements to find clashes.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energy analysis run with its report, plus an interference-check report of clashes between element categories.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Revit Systems Analysis (EnergyPlus), your course model or the Autodesk sample project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Energy Analysis and Design Compliance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Open the sample architecture project. Set the project's geographic Location, then open Energy Settings and set the Mode and building type for analysis.</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Analyze ▸ Energy Optimization ▸ Location / Energy Settings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Generate the energy analytical model — Revit creates analytical spaces and surfaces from the building elements.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Analyze ▸ Energy Optimization ▸ Create Energy Model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Energy Analysis and Design Compliance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Run a systems analysis workflow: choose 'System sizing' (design heating/cooling loads) — Revit translates the model to EnergyPlus and runs the simulation.</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Analyze ▸ Energy Analysis ▸ Systems Analysis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Review the results: open Project Browser ▸ Reports ▸ Analysis Reports and double-click the time-stamped report; switch Report Style between Detailed and Loads.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Project Browser ▸ Reports ▸ Analysis Reports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Energy Analysis and Design Compliance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Select an analytical space and read its heating, cooling and airflow peak-demand properties — the same numbers as the report, attached to the model.</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Analytical Space ▸ Properties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Run an Interference Check between Structural Columns/Framing and Walls/Floors; export the clash report and resolve one clash, then Refresh to confirm it clears.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Collaborate ▸ Coordinate ▸ Interference Check ▸ Run Interference Check</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Energy Analysis and Design Compliance Checks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Analysis Report opens with design heating and cooling loads for every zone, each analytical space carries its peak demands as properties, and the Interference Check lists each clash by element pair — after your fix and Refresh, the resolved clash disappears from the report.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BIM Application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LO3 — Apply BIM and check the output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BIM Documentation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Maintain BIM databases and information systems · documentation required for BIM · BIM e-submission requirements and standards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ALIGNMENT: K8–K10 · A3, A9 · LO4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BIM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Documents govern BIM</a:t>
            </a:r>
          </a:p>
          <a:p>
            <a:pPr algn="l">
              <a:spcAft>
                <a:spcPts val="300"/>
              </a:spcAft>
            </a:pPr>
            <a:r>
              <a:rPr sz="1100" b="0">
                <a:solidFill>
                  <a:srgbClr val="5B6372"/>
                </a:solidFill>
                <a:latin typeface="Arial"/>
              </a:rPr>
              <a:t>BIM standards, BEP, BIP, PEP, EIR, MIDP and the Common Data Environment (CDE) govern how project information is produced and shared.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BEP is the baseline</a:t>
            </a:r>
          </a:p>
          <a:p>
            <a:pPr algn="l">
              <a:spcAft>
                <a:spcPts val="300"/>
              </a:spcAft>
            </a:pPr>
            <a:r>
              <a:rPr sz="1100" b="0">
                <a:solidFill>
                  <a:srgbClr val="5B6372"/>
                </a:solidFill>
                <a:latin typeface="Arial"/>
              </a:rPr>
              <a:t>The BIM Execution Plan records goals, roles, deliverables, level of detail and exchange protocols — agreed at project start.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Deliverables are agreed early</a:t>
            </a:r>
          </a:p>
          <a:p>
            <a:pPr algn="l">
              <a:spcAft>
                <a:spcPts val="300"/>
              </a:spcAft>
            </a:pPr>
            <a:r>
              <a:rPr sz="1100" b="0">
                <a:solidFill>
                  <a:srgbClr val="5B6372"/>
                </a:solidFill>
                <a:latin typeface="Arial"/>
              </a:rPr>
              <a:t>Site, massing, architectural, structural and MEP models, schedules, shop drawings, as-builts and FM data — with dates.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Databases need discipline</a:t>
            </a:r>
          </a:p>
          <a:p>
            <a:pPr algn="l">
              <a:spcAft>
                <a:spcPts val="300"/>
              </a:spcAft>
            </a:pPr>
            <a:r>
              <a:rPr sz="1100" b="0">
                <a:solidFill>
                  <a:srgbClr val="5B6372"/>
                </a:solidFill>
                <a:latin typeface="Arial"/>
              </a:rPr>
              <a:t>SVY21 geo-referencing, 1:1 metric scale, file/view naming formats, colour standards and federated file structures keep the database usable.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Worksharing maintains one truth</a:t>
            </a:r>
          </a:p>
          <a:p>
            <a:pPr algn="l">
              <a:spcAft>
                <a:spcPts val="300"/>
              </a:spcAft>
            </a:pPr>
            <a:r>
              <a:rPr sz="1100" b="0">
                <a:solidFill>
                  <a:srgbClr val="5B6372"/>
                </a:solidFill>
                <a:latin typeface="Arial"/>
              </a:rPr>
              <a:t>A central model with worksets, linked files and phases lets the whole team maintain one coordinated information system.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e-Submission has rules</a:t>
            </a:r>
          </a:p>
          <a:p>
            <a:pPr algn="l">
              <a:spcAft>
                <a:spcPts val="300"/>
              </a:spcAft>
            </a:pPr>
            <a:r>
              <a:rPr sz="1100" b="0">
                <a:solidFill>
                  <a:srgbClr val="5B6372"/>
                </a:solidFill>
                <a:latin typeface="Arial"/>
              </a:rPr>
              <a:t>BCA BIM e-submission: last-saved views, cover page, core information and discipline-specific requirements must all be checked.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DOCUMENTATION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Documentation Required for BIM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BIM Standard</a:t>
            </a:r>
          </a:p>
          <a:p>
            <a:pPr algn="l">
              <a:spcAft>
                <a:spcPts val="300"/>
              </a:spcAft>
            </a:pPr>
            <a:r>
              <a:rPr sz="1000" b="0">
                <a:solidFill>
                  <a:srgbClr val="5B6372"/>
                </a:solidFill>
                <a:latin typeface="Arial"/>
              </a:rPr>
              <a:t>The standards the project's BIM must follow.</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BEP — BIM Execution Plan</a:t>
            </a:r>
          </a:p>
          <a:p>
            <a:pPr algn="l">
              <a:spcAft>
                <a:spcPts val="300"/>
              </a:spcAft>
            </a:pPr>
            <a:r>
              <a:rPr sz="1000" b="0">
                <a:solidFill>
                  <a:srgbClr val="5B6372"/>
                </a:solidFill>
                <a:latin typeface="Arial"/>
              </a:rPr>
              <a:t>Overall vision + implementation details the team follows throughout the project.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BIP — BIM Implementation Plan</a:t>
            </a:r>
          </a:p>
          <a:p>
            <a:pPr algn="l">
              <a:spcAft>
                <a:spcPts val="300"/>
              </a:spcAft>
            </a:pPr>
            <a:r>
              <a:rPr sz="1000" b="0">
                <a:solidFill>
                  <a:srgbClr val="5B6372"/>
                </a:solidFill>
                <a:latin typeface="Arial"/>
              </a:rPr>
              <a:t>How the organisation rolls BIM into its practice.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PEP — Project Execution Plan</a:t>
            </a:r>
          </a:p>
          <a:p>
            <a:pPr algn="l">
              <a:spcAft>
                <a:spcPts val="300"/>
              </a:spcAft>
            </a:pPr>
            <a:r>
              <a:rPr sz="1000" b="0">
                <a:solidFill>
                  <a:srgbClr val="5B6372"/>
                </a:solidFill>
                <a:latin typeface="Arial"/>
              </a:rPr>
              <a:t>The project-wide delivery plan BIM slots into.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EIR — Employer's Information Requirements</a:t>
            </a:r>
          </a:p>
          <a:p>
            <a:pPr algn="l">
              <a:spcAft>
                <a:spcPts val="300"/>
              </a:spcAft>
            </a:pPr>
            <a:r>
              <a:rPr sz="1000" b="0">
                <a:solidFill>
                  <a:srgbClr val="5B6372"/>
                </a:solidFill>
                <a:latin typeface="Arial"/>
              </a:rPr>
              <a:t>What information the employer requires, when and how.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MIDP &amp; CDE</a:t>
            </a:r>
          </a:p>
          <a:p>
            <a:pPr algn="l">
              <a:spcAft>
                <a:spcPts val="300"/>
              </a:spcAft>
            </a:pPr>
            <a:r>
              <a:rPr sz="1000" b="0">
                <a:solidFill>
                  <a:srgbClr val="5B6372"/>
                </a:solidFill>
                <a:latin typeface="Arial"/>
              </a:rPr>
              <a:t>Master Information Delivery Plan schedules deliverables; the Common Data Environment is the single place information is shared.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DOCUMENTATION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Deliverables — Agreed Early, With Dates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Models</a:t>
            </a:r>
          </a:p>
          <a:p>
            <a:pPr algn="l">
              <a:spcAft>
                <a:spcPts val="300"/>
              </a:spcAft>
            </a:pPr>
            <a:r>
              <a:rPr sz="1000" b="0">
                <a:solidFill>
                  <a:srgbClr val="5B6372"/>
                </a:solidFill>
                <a:latin typeface="Arial"/>
              </a:rPr>
              <a:t>Site model, massing model, architectural / structural / MEP models.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Model uses</a:t>
            </a:r>
          </a:p>
          <a:p>
            <a:pPr algn="l">
              <a:spcAft>
                <a:spcPts val="300"/>
              </a:spcAft>
            </a:pPr>
            <a:r>
              <a:rPr sz="1000" b="0">
                <a:solidFill>
                  <a:srgbClr val="5B6372"/>
                </a:solidFill>
                <a:latin typeface="Arial"/>
              </a:rPr>
              <a:t>Regulatory submissions, coordination and clash detection, visualisation, cost estimation.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Programme</a:t>
            </a:r>
          </a:p>
          <a:p>
            <a:pPr algn="l">
              <a:spcAft>
                <a:spcPts val="300"/>
              </a:spcAft>
            </a:pPr>
            <a:r>
              <a:rPr sz="1000" b="0">
                <a:solidFill>
                  <a:srgbClr val="5B6372"/>
                </a:solidFill>
                <a:latin typeface="Arial"/>
              </a:rPr>
              <a:t>Schedule and phasing programme — in BIM or spreadsheet.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Construction</a:t>
            </a:r>
          </a:p>
          <a:p>
            <a:pPr algn="l">
              <a:spcAft>
                <a:spcPts val="300"/>
              </a:spcAft>
            </a:pPr>
            <a:r>
              <a:rPr sz="1000" b="0">
                <a:solidFill>
                  <a:srgbClr val="5B6372"/>
                </a:solidFill>
                <a:latin typeface="Arial"/>
              </a:rPr>
              <a:t>Construction and fabrication models, shop drawings.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Handover</a:t>
            </a:r>
          </a:p>
          <a:p>
            <a:pPr algn="l">
              <a:spcAft>
                <a:spcPts val="300"/>
              </a:spcAft>
            </a:pPr>
            <a:r>
              <a:rPr sz="1000" b="0">
                <a:solidFill>
                  <a:srgbClr val="5B6372"/>
                </a:solidFill>
                <a:latin typeface="Arial"/>
              </a:rPr>
              <a:t>As-built model in native or open formats; data for facility management.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When agreed</a:t>
            </a:r>
          </a:p>
          <a:p>
            <a:pPr algn="l">
              <a:spcAft>
                <a:spcPts val="300"/>
              </a:spcAft>
            </a:pPr>
            <a:r>
              <a:rPr sz="1000" b="0">
                <a:solidFill>
                  <a:srgbClr val="5B6372"/>
                </a:solidFill>
                <a:latin typeface="Arial"/>
              </a:rPr>
              <a:t>At project start, and after the main project members are appointed.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DRAWINGS &amp; SPEC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Producing Drawings and Specifications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Architecture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Structure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Architectural guidelines</a:t>
            </a:r>
          </a:p>
          <a:p>
            <a:pPr>
              <a:spcAft>
                <a:spcPts val="1000"/>
              </a:spcAft>
            </a:pPr>
            <a:r>
              <a:rPr sz="1400" b="0">
                <a:solidFill>
                  <a:srgbClr val="5B6372"/>
                </a:solidFill>
                <a:latin typeface="Arial"/>
              </a:rPr>
              <a:t>–  Model in stages: Conceptual, Preliminary, Detailed, Construction, As-Built</a:t>
            </a:r>
          </a:p>
          <a:p>
            <a:pPr>
              <a:spcAft>
                <a:spcPts val="1000"/>
              </a:spcAft>
            </a:pPr>
            <a:r>
              <a:rPr sz="1400" b="0">
                <a:solidFill>
                  <a:srgbClr val="5B6372"/>
                </a:solidFill>
                <a:latin typeface="Arial"/>
              </a:rPr>
              <a:t>–  Use the correct tool per element (Wall tool, Slab tool …); set 'Type' correctly when improvising</a:t>
            </a:r>
          </a:p>
          <a:p>
            <a:pPr>
              <a:spcAft>
                <a:spcPts val="1000"/>
              </a:spcAft>
            </a:pPr>
            <a:r>
              <a:rPr sz="1400" b="0">
                <a:solidFill>
                  <a:srgbClr val="5B6372"/>
                </a:solidFill>
                <a:latin typeface="Arial"/>
              </a:rPr>
              <a:t>–  2D may complement the model for elements smaller than the agreed size (e.g. &lt; 100 mm)</a:t>
            </a:r>
          </a:p>
          <a:p>
            <a:pPr>
              <a:spcAft>
                <a:spcPts val="1000"/>
              </a:spcAft>
            </a:pPr>
            <a:r>
              <a:rPr sz="1400" b="0">
                <a:solidFill>
                  <a:srgbClr val="5B6372"/>
                </a:solidFill>
                <a:latin typeface="Arial"/>
              </a:rPr>
              <a:t>–  Model elements separately per storey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Structural guidelines</a:t>
            </a:r>
          </a:p>
          <a:p>
            <a:pPr>
              <a:spcAft>
                <a:spcPts val="1000"/>
              </a:spcAft>
            </a:pPr>
            <a:r>
              <a:rPr sz="1400" b="0">
                <a:solidFill>
                  <a:srgbClr val="5B6372"/>
                </a:solidFill>
                <a:latin typeface="Arial"/>
              </a:rPr>
              <a:t>–  Structural consultant produces an analysis model AND a physical model (Structural BIM)</a:t>
            </a:r>
          </a:p>
          <a:p>
            <a:pPr>
              <a:spcAft>
                <a:spcPts val="1000"/>
              </a:spcAft>
            </a:pPr>
            <a:r>
              <a:rPr sz="1400" b="0">
                <a:solidFill>
                  <a:srgbClr val="5B6372"/>
                </a:solidFill>
                <a:latin typeface="Arial"/>
              </a:rPr>
              <a:t>–  Covers load-bearing concrete, wood and steel + non-load-bearing concrete</a:t>
            </a:r>
          </a:p>
          <a:p>
            <a:pPr>
              <a:spcAft>
                <a:spcPts val="1000"/>
              </a:spcAft>
            </a:pPr>
            <a:r>
              <a:rPr sz="1400" b="0">
                <a:solidFill>
                  <a:srgbClr val="5B6372"/>
                </a:solidFill>
                <a:latin typeface="Arial"/>
              </a:rPr>
              <a:t>–  Rebar and joint details in Detailed Design stage, per tool capability</a:t>
            </a:r>
          </a:p>
          <a:p>
            <a:pPr>
              <a:spcAft>
                <a:spcPts val="1000"/>
              </a:spcAft>
            </a:pPr>
            <a:r>
              <a:rPr sz="1400" b="0">
                <a:solidFill>
                  <a:srgbClr val="5B6372"/>
                </a:solidFill>
                <a:latin typeface="Arial"/>
              </a:rPr>
              <a:t>–  Required parameters: Type, Material, ID, Size — Type drives quantity takeoff</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DATABASES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Databases and Information Systems for BIM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28499" y="1755648"/>
            <a:ext cx="6734697" cy="4123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61_img82.png"/>
          <p:cNvPicPr>
            <a:picLocks noChangeAspect="1"/>
          </p:cNvPicPr>
          <p:nvPr/>
        </p:nvPicPr>
        <p:blipFill>
          <a:blip r:embed="rId2"/>
          <a:stretch>
            <a:fillRect/>
          </a:stretch>
        </p:blipFill>
        <p:spPr>
          <a:xfrm>
            <a:off x="2801651" y="1828800"/>
            <a:ext cx="6588393" cy="3977639"/>
          </a:xfrm>
          <a:prstGeom prst="rect">
            <a:avLst/>
          </a:prstGeom>
        </p:spPr>
      </p:pic>
      <p:sp>
        <p:nvSpPr>
          <p:cNvPr id="9" name="TextBox 8"/>
          <p:cNvSpPr txBox="1"/>
          <p:nvPr/>
        </p:nvSpPr>
        <p:spPr>
          <a:xfrm>
            <a:off x="777240" y="594360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The project information database: models, documents and structured data flowing through a common data environment.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SINGAPORE STANDARDS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Model Orientation, Site Configuration and Scale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SVY21 coordinates</a:t>
            </a:r>
          </a:p>
          <a:p>
            <a:pPr algn="l">
              <a:spcAft>
                <a:spcPts val="300"/>
              </a:spcAft>
            </a:pPr>
            <a:r>
              <a:rPr sz="1100" b="0">
                <a:solidFill>
                  <a:srgbClr val="5B6372"/>
                </a:solidFill>
                <a:latin typeface="Arial"/>
              </a:rPr>
              <a:t>Geo-reference the site model to SVY21 for Easting and Northing (x, 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Singapore Height Datum</a:t>
            </a:r>
          </a:p>
          <a:p>
            <a:pPr algn="l">
              <a:spcAft>
                <a:spcPts val="300"/>
              </a:spcAft>
            </a:pPr>
            <a:r>
              <a:rPr sz="1100" b="0">
                <a:solidFill>
                  <a:srgbClr val="5B6372"/>
                </a:solidFill>
                <a:latin typeface="Arial"/>
              </a:rPr>
              <a:t>Elevations set from SHD 0.000 m for height (z).</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True North</a:t>
            </a:r>
          </a:p>
          <a:p>
            <a:pPr algn="l">
              <a:spcAft>
                <a:spcPts val="300"/>
              </a:spcAft>
            </a:pPr>
            <a:r>
              <a:rPr sz="1100" b="0">
                <a:solidFill>
                  <a:srgbClr val="5B6372"/>
                </a:solidFill>
                <a:latin typeface="Arial"/>
              </a:rPr>
              <a:t>Present the site model layout in True North / real-world orientation.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Full-size metric</a:t>
            </a:r>
          </a:p>
          <a:p>
            <a:pPr algn="l">
              <a:spcAft>
                <a:spcPts val="300"/>
              </a:spcAft>
            </a:pPr>
            <a:r>
              <a:rPr sz="1100" b="0">
                <a:solidFill>
                  <a:srgbClr val="5B6372"/>
                </a:solidFill>
                <a:latin typeface="Arial"/>
              </a:rPr>
              <a:t>Model at 1:1 in metric; 2D views generated from the model must not use odd drawing scales.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SINGAPORE STANDARDS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File Naming Format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801367"/>
            <a:ext cx="5815584" cy="113251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64_img83.png"/>
          <p:cNvPicPr>
            <a:picLocks noChangeAspect="1"/>
          </p:cNvPicPr>
          <p:nvPr/>
        </p:nvPicPr>
        <p:blipFill>
          <a:blip r:embed="rId2"/>
          <a:stretch>
            <a:fillRect/>
          </a:stretch>
        </p:blipFill>
        <p:spPr>
          <a:xfrm>
            <a:off x="5742432" y="1874519"/>
            <a:ext cx="5669280" cy="986206"/>
          </a:xfrm>
          <a:prstGeom prst="rect">
            <a:avLst/>
          </a:prstGeom>
        </p:spPr>
      </p:pic>
      <p:sp>
        <p:nvSpPr>
          <p:cNvPr id="9" name="TextBox 8"/>
          <p:cNvSpPr txBox="1"/>
          <p:nvPr/>
        </p:nvSpPr>
        <p:spPr>
          <a:xfrm>
            <a:off x="777240" y="1828800"/>
            <a:ext cx="4599432" cy="4297680"/>
          </a:xfrm>
          <a:prstGeom prst="rect">
            <a:avLst/>
          </a:prstGeom>
          <a:noFill/>
        </p:spPr>
        <p:txBody>
          <a:bodyPr wrap="square">
            <a:spAutoFit/>
          </a:bodyPr>
          <a:lstStyle/>
          <a:p>
            <a:pPr>
              <a:spcAft>
                <a:spcPts val="1200"/>
              </a:spcAft>
            </a:pPr>
            <a:r>
              <a:rPr sz="1500" b="0">
                <a:solidFill>
                  <a:srgbClr val="161B26"/>
                </a:solidFill>
                <a:latin typeface="Arial"/>
              </a:rPr>
              <a:t>•  The e-submission file name consists of 6 fields: project, originator, volume/zone, level, file type and discipline.</a:t>
            </a:r>
          </a:p>
          <a:p>
            <a:pPr>
              <a:spcAft>
                <a:spcPts val="1200"/>
              </a:spcAft>
            </a:pPr>
            <a:r>
              <a:rPr sz="1500" b="0">
                <a:solidFill>
                  <a:srgbClr val="161B26"/>
                </a:solidFill>
                <a:latin typeface="Arial"/>
              </a:rPr>
              <a:t>•  Consistent naming keeps the federated model navigable for every party and every agency.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SINGAPORE STANDARDS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File Naming — Worked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801367"/>
            <a:ext cx="5815584" cy="24728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66_img85.png"/>
          <p:cNvPicPr>
            <a:picLocks noChangeAspect="1"/>
          </p:cNvPicPr>
          <p:nvPr/>
        </p:nvPicPr>
        <p:blipFill>
          <a:blip r:embed="rId2"/>
          <a:stretch>
            <a:fillRect/>
          </a:stretch>
        </p:blipFill>
        <p:spPr>
          <a:xfrm>
            <a:off x="5742432" y="1874519"/>
            <a:ext cx="5669280" cy="2326577"/>
          </a:xfrm>
          <a:prstGeom prst="rect">
            <a:avLst/>
          </a:prstGeom>
        </p:spPr>
      </p:pic>
      <p:sp>
        <p:nvSpPr>
          <p:cNvPr id="9" name="TextBox 8"/>
          <p:cNvSpPr txBox="1"/>
          <p:nvPr/>
        </p:nvSpPr>
        <p:spPr>
          <a:xfrm>
            <a:off x="777240" y="1828800"/>
            <a:ext cx="4599432" cy="4297680"/>
          </a:xfrm>
          <a:prstGeom prst="rect">
            <a:avLst/>
          </a:prstGeom>
          <a:noFill/>
        </p:spPr>
        <p:txBody>
          <a:bodyPr wrap="square">
            <a:spAutoFit/>
          </a:bodyPr>
          <a:lstStyle/>
          <a:p>
            <a:pPr>
              <a:spcAft>
                <a:spcPts val="1200"/>
              </a:spcAft>
            </a:pPr>
            <a:r>
              <a:rPr sz="1500" b="0">
                <a:solidFill>
                  <a:srgbClr val="161B26"/>
                </a:solidFill>
                <a:latin typeface="Arial"/>
              </a:rPr>
              <a:t>•  Architectural, MEP and structural files each follow the same 6-field pattern with their discipline code.</a:t>
            </a:r>
          </a:p>
          <a:p>
            <a:pPr>
              <a:spcAft>
                <a:spcPts val="1200"/>
              </a:spcAft>
            </a:pPr>
            <a:r>
              <a:rPr sz="1500" b="0">
                <a:solidFill>
                  <a:srgbClr val="161B26"/>
                </a:solidFill>
                <a:latin typeface="Arial"/>
              </a:rPr>
              <a:t>•  The examples show real project file names for each discipline.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SINGAPORE STANDARDS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File Structure — Single vs Federated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801367"/>
            <a:ext cx="5266944" cy="16705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69_img88.png"/>
          <p:cNvPicPr>
            <a:picLocks noChangeAspect="1"/>
          </p:cNvPicPr>
          <p:nvPr/>
        </p:nvPicPr>
        <p:blipFill>
          <a:blip r:embed="rId2"/>
          <a:stretch>
            <a:fillRect/>
          </a:stretch>
        </p:blipFill>
        <p:spPr>
          <a:xfrm>
            <a:off x="6291072" y="1874519"/>
            <a:ext cx="5120640" cy="1524203"/>
          </a:xfrm>
          <a:prstGeom prst="rect">
            <a:avLst/>
          </a:prstGeom>
        </p:spPr>
      </p:pic>
      <p:sp>
        <p:nvSpPr>
          <p:cNvPr id="9" name="TextBox 8"/>
          <p:cNvSpPr txBox="1"/>
          <p:nvPr/>
        </p:nvSpPr>
        <p:spPr>
          <a:xfrm>
            <a:off x="777240" y="1828800"/>
            <a:ext cx="5148072" cy="4297680"/>
          </a:xfrm>
          <a:prstGeom prst="rect">
            <a:avLst/>
          </a:prstGeom>
          <a:noFill/>
        </p:spPr>
        <p:txBody>
          <a:bodyPr wrap="square">
            <a:spAutoFit/>
          </a:bodyPr>
          <a:lstStyle/>
          <a:p>
            <a:pPr>
              <a:spcAft>
                <a:spcPts val="1200"/>
              </a:spcAft>
            </a:pPr>
            <a:r>
              <a:rPr sz="1500" b="0">
                <a:solidFill>
                  <a:srgbClr val="161B26"/>
                </a:solidFill>
                <a:latin typeface="Arial"/>
              </a:rPr>
              <a:t>•  Single file: one BIM file holds everything — suitable for small projects with one main building.</a:t>
            </a:r>
          </a:p>
          <a:p>
            <a:pPr>
              <a:spcAft>
                <a:spcPts val="1200"/>
              </a:spcAft>
            </a:pPr>
            <a:r>
              <a:rPr sz="1500" b="0">
                <a:solidFill>
                  <a:srgbClr val="161B26"/>
                </a:solidFill>
                <a:latin typeface="Arial"/>
              </a:rPr>
              <a:t>•  Federated / linked files: several BIM files linked together — for multi-building or large projects.</a:t>
            </a:r>
          </a:p>
          <a:p>
            <a:pPr>
              <a:spcAft>
                <a:spcPts val="1200"/>
              </a:spcAft>
            </a:pPr>
            <a:r>
              <a:rPr sz="1500" b="0">
                <a:solidFill>
                  <a:srgbClr val="161B26"/>
                </a:solidFill>
                <a:latin typeface="Arial"/>
              </a:rPr>
              <a:t>•  Use UNC or relative paths for links; folders no more than two sub-folders deep.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SINGAPORE STANDARDS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View Naming Format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0" y="1801367"/>
            <a:ext cx="5084064" cy="218305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72_img91.png"/>
          <p:cNvPicPr>
            <a:picLocks noChangeAspect="1"/>
          </p:cNvPicPr>
          <p:nvPr/>
        </p:nvPicPr>
        <p:blipFill>
          <a:blip r:embed="rId2"/>
          <a:stretch>
            <a:fillRect/>
          </a:stretch>
        </p:blipFill>
        <p:spPr>
          <a:xfrm>
            <a:off x="6473952" y="1874519"/>
            <a:ext cx="4937760" cy="2036750"/>
          </a:xfrm>
          <a:prstGeom prst="rect">
            <a:avLst/>
          </a:prstGeom>
        </p:spPr>
      </p:pic>
      <p:sp>
        <p:nvSpPr>
          <p:cNvPr id="9" name="TextBox 8"/>
          <p:cNvSpPr txBox="1"/>
          <p:nvPr/>
        </p:nvSpPr>
        <p:spPr>
          <a:xfrm>
            <a:off x="777240" y="1828800"/>
            <a:ext cx="5330952" cy="4297680"/>
          </a:xfrm>
          <a:prstGeom prst="rect">
            <a:avLst/>
          </a:prstGeom>
          <a:noFill/>
        </p:spPr>
        <p:txBody>
          <a:bodyPr wrap="square">
            <a:spAutoFit/>
          </a:bodyPr>
          <a:lstStyle/>
          <a:p>
            <a:pPr>
              <a:spcAft>
                <a:spcPts val="1200"/>
              </a:spcAft>
            </a:pPr>
            <a:r>
              <a:rPr sz="1500" b="0">
                <a:solidFill>
                  <a:srgbClr val="161B26"/>
                </a:solidFill>
                <a:latin typeface="Arial"/>
              </a:rPr>
              <a:t>•  View names use 3–4 fields (one field is agency-specific).</a:t>
            </a:r>
          </a:p>
          <a:p>
            <a:pPr>
              <a:spcAft>
                <a:spcPts val="1200"/>
              </a:spcAft>
            </a:pPr>
            <a:r>
              <a:rPr sz="1500" b="0">
                <a:solidFill>
                  <a:srgbClr val="161B26"/>
                </a:solidFill>
                <a:latin typeface="Arial"/>
              </a:rPr>
              <a:t>•  The View Name field describes the particular view: 1st Storey, North Elevation, Section AA, Fire Protection Legend, Door Schedule.</a:t>
            </a:r>
          </a:p>
          <a:p>
            <a:pPr>
              <a:spcAft>
                <a:spcPts val="1200"/>
              </a:spcAft>
            </a:pPr>
            <a:r>
              <a:rPr sz="1500" b="0">
                <a:solidFill>
                  <a:srgbClr val="161B26"/>
                </a:solidFill>
                <a:latin typeface="Arial"/>
              </a:rPr>
              <a:t>•  Views used in a submission keep exactly their View Name.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SINGAPORE STANDARDS · K10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Colour Standards for Submissions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801367"/>
            <a:ext cx="5266944" cy="2482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73_img92.png"/>
          <p:cNvPicPr>
            <a:picLocks noChangeAspect="1"/>
          </p:cNvPicPr>
          <p:nvPr/>
        </p:nvPicPr>
        <p:blipFill>
          <a:blip r:embed="rId2"/>
          <a:stretch>
            <a:fillRect/>
          </a:stretch>
        </p:blipFill>
        <p:spPr>
          <a:xfrm>
            <a:off x="6291072" y="1874519"/>
            <a:ext cx="5120640" cy="2336496"/>
          </a:xfrm>
          <a:prstGeom prst="rect">
            <a:avLst/>
          </a:prstGeom>
        </p:spPr>
      </p:pic>
      <p:sp>
        <p:nvSpPr>
          <p:cNvPr id="9" name="TextBox 8"/>
          <p:cNvSpPr txBox="1"/>
          <p:nvPr/>
        </p:nvSpPr>
        <p:spPr>
          <a:xfrm>
            <a:off x="777240" y="1828800"/>
            <a:ext cx="5148072" cy="4297680"/>
          </a:xfrm>
          <a:prstGeom prst="rect">
            <a:avLst/>
          </a:prstGeom>
          <a:noFill/>
        </p:spPr>
        <p:txBody>
          <a:bodyPr wrap="square">
            <a:spAutoFit/>
          </a:bodyPr>
          <a:lstStyle/>
          <a:p>
            <a:pPr>
              <a:spcAft>
                <a:spcPts val="1200"/>
              </a:spcAft>
            </a:pPr>
            <a:r>
              <a:rPr sz="1500" b="0">
                <a:solidFill>
                  <a:srgbClr val="161B26"/>
                </a:solidFill>
                <a:latin typeface="Arial"/>
              </a:rPr>
              <a:t>•  Amendments to approved plans use the agencies' prescribed colours.</a:t>
            </a:r>
          </a:p>
          <a:p>
            <a:pPr>
              <a:spcAft>
                <a:spcPts val="1200"/>
              </a:spcAft>
            </a:pPr>
            <a:r>
              <a:rPr sz="1500" b="0">
                <a:solidFill>
                  <a:srgbClr val="161B26"/>
                </a:solidFill>
                <a:latin typeface="Arial"/>
              </a:rPr>
              <a:t>•  Addition &amp; Alteration (A&amp;A) works have their own colour scheme.</a:t>
            </a:r>
          </a:p>
          <a:p>
            <a:pPr>
              <a:spcAft>
                <a:spcPts val="1200"/>
              </a:spcAft>
            </a:pPr>
            <a:r>
              <a:rPr sz="1500" b="0">
                <a:solidFill>
                  <a:srgbClr val="161B26"/>
                </a:solidFill>
                <a:latin typeface="Arial"/>
              </a:rPr>
              <a:t>•  Correct colours let the regulatory officer read what changed at a glance.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E-SUBMISSION · K10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e-Submission — Last Saved Views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Maximum extent</a:t>
            </a:r>
          </a:p>
          <a:p>
            <a:pPr algn="l">
              <a:spcAft>
                <a:spcPts val="300"/>
              </a:spcAft>
            </a:pPr>
            <a:r>
              <a:rPr sz="1000" b="0">
                <a:solidFill>
                  <a:srgbClr val="5B6372"/>
                </a:solidFill>
                <a:latin typeface="Arial"/>
              </a:rPr>
              <a:t>Each view is saved at its maximum extent — agencies check the Last Saved Model and Views.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Nothing hidden</a:t>
            </a:r>
          </a:p>
          <a:p>
            <a:pPr algn="l">
              <a:spcAft>
                <a:spcPts val="300"/>
              </a:spcAft>
            </a:pPr>
            <a:r>
              <a:rPr sz="1000" b="0">
                <a:solidFill>
                  <a:srgbClr val="5B6372"/>
                </a:solidFill>
                <a:latin typeface="Arial"/>
              </a:rPr>
              <a:t>No hidden objects or annotations remain in the submitted views.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External files load</a:t>
            </a:r>
          </a:p>
          <a:p>
            <a:pPr algn="l">
              <a:spcAft>
                <a:spcPts val="300"/>
              </a:spcAft>
            </a:pPr>
            <a:r>
              <a:rPr sz="1000" b="0">
                <a:solidFill>
                  <a:srgbClr val="5B6372"/>
                </a:solidFill>
                <a:latin typeface="Arial"/>
              </a:rPr>
              <a:t>Every external file that forms part of the submission loads; none missing or unreadable.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Purged</a:t>
            </a:r>
          </a:p>
          <a:p>
            <a:pPr algn="l">
              <a:spcAft>
                <a:spcPts val="300"/>
              </a:spcAft>
            </a:pPr>
            <a:r>
              <a:rPr sz="1000" b="0">
                <a:solidFill>
                  <a:srgbClr val="5B6372"/>
                </a:solidFill>
                <a:latin typeface="Arial"/>
              </a:rPr>
              <a:t>External references, irrelevant layers, drafting work and construction lines removed before submission.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Legible fonts</a:t>
            </a:r>
          </a:p>
          <a:p>
            <a:pPr algn="l">
              <a:spcAft>
                <a:spcPts val="300"/>
              </a:spcAft>
            </a:pPr>
            <a:r>
              <a:rPr sz="1000" b="0">
                <a:solidFill>
                  <a:srgbClr val="5B6372"/>
                </a:solidFill>
                <a:latin typeface="Arial"/>
              </a:rPr>
              <a:t>No proprietary fonts; all annotation fonts legible.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All phases display</a:t>
            </a:r>
          </a:p>
          <a:p>
            <a:pPr algn="l">
              <a:spcAft>
                <a:spcPts val="300"/>
              </a:spcAft>
            </a:pPr>
            <a:r>
              <a:rPr sz="1000" b="0">
                <a:solidFill>
                  <a:srgbClr val="5B6372"/>
                </a:solidFill>
                <a:latin typeface="Arial"/>
              </a:rPr>
              <a:t>Objects and annotations in each phase display in the last saved view.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E-SUBMISSION · K10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e-Submission Cover Page and Core Information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0" y="1801367"/>
            <a:ext cx="4901184" cy="31640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79_img94.png"/>
          <p:cNvPicPr>
            <a:picLocks noChangeAspect="1"/>
          </p:cNvPicPr>
          <p:nvPr/>
        </p:nvPicPr>
        <p:blipFill>
          <a:blip r:embed="rId2"/>
          <a:stretch>
            <a:fillRect/>
          </a:stretch>
        </p:blipFill>
        <p:spPr>
          <a:xfrm>
            <a:off x="6656832" y="1874519"/>
            <a:ext cx="4754880" cy="3017775"/>
          </a:xfrm>
          <a:prstGeom prst="rect">
            <a:avLst/>
          </a:prstGeom>
        </p:spPr>
      </p:pic>
      <p:sp>
        <p:nvSpPr>
          <p:cNvPr id="9" name="TextBox 8"/>
          <p:cNvSpPr txBox="1"/>
          <p:nvPr/>
        </p:nvSpPr>
        <p:spPr>
          <a:xfrm>
            <a:off x="777240" y="1828800"/>
            <a:ext cx="5513832" cy="4297680"/>
          </a:xfrm>
          <a:prstGeom prst="rect">
            <a:avLst/>
          </a:prstGeom>
          <a:noFill/>
        </p:spPr>
        <p:txBody>
          <a:bodyPr wrap="square">
            <a:spAutoFit/>
          </a:bodyPr>
          <a:lstStyle/>
          <a:p>
            <a:pPr>
              <a:spcAft>
                <a:spcPts val="1200"/>
              </a:spcAft>
            </a:pPr>
            <a:r>
              <a:rPr sz="1500" b="0">
                <a:solidFill>
                  <a:srgbClr val="161B26"/>
                </a:solidFill>
                <a:latin typeface="Arial"/>
              </a:rPr>
              <a:t>•  The cover page carries: (1) submission authority and endorsements / QP's declaration, (2) project information, (3) the list of views, schedules and sheets for approval.</a:t>
            </a:r>
          </a:p>
          <a:p>
            <a:pPr>
              <a:spcAft>
                <a:spcPts val="1200"/>
              </a:spcAft>
            </a:pPr>
            <a:r>
              <a:rPr sz="1500" b="0">
                <a:solidFill>
                  <a:srgbClr val="161B26"/>
                </a:solidFill>
                <a:latin typeface="Arial"/>
              </a:rPr>
              <a:t>•  All submissions carry the minimal Core Information (CI) specified by the respective regulatory agency.</a:t>
            </a:r>
          </a:p>
          <a:p>
            <a:pPr>
              <a:spcAft>
                <a:spcPts val="1200"/>
              </a:spcAft>
            </a:pPr>
            <a:r>
              <a:rPr sz="1500" b="0">
                <a:solidFill>
                  <a:srgbClr val="161B26"/>
                </a:solidFill>
                <a:latin typeface="Arial"/>
              </a:rPr>
              <a:t>•  Discipline-specific requirements come from the Code of Practice for BIM e-Submission.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DOCUMENTATION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Drawing Sheets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0" y="1801367"/>
            <a:ext cx="4352544" cy="3492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06_img70.png"/>
          <p:cNvPicPr>
            <a:picLocks noChangeAspect="1"/>
          </p:cNvPicPr>
          <p:nvPr/>
        </p:nvPicPr>
        <p:blipFill>
          <a:blip r:embed="rId2"/>
          <a:stretch>
            <a:fillRect/>
          </a:stretch>
        </p:blipFill>
        <p:spPr>
          <a:xfrm>
            <a:off x="7205472" y="1874519"/>
            <a:ext cx="4206240" cy="3346016"/>
          </a:xfrm>
          <a:prstGeom prst="rect">
            <a:avLst/>
          </a:prstGeom>
        </p:spPr>
      </p:pic>
      <p:sp>
        <p:nvSpPr>
          <p:cNvPr id="9" name="TextBox 8"/>
          <p:cNvSpPr txBox="1"/>
          <p:nvPr/>
        </p:nvSpPr>
        <p:spPr>
          <a:xfrm>
            <a:off x="777240" y="1828800"/>
            <a:ext cx="6062472" cy="4297680"/>
          </a:xfrm>
          <a:prstGeom prst="rect">
            <a:avLst/>
          </a:prstGeom>
          <a:noFill/>
        </p:spPr>
        <p:txBody>
          <a:bodyPr wrap="square">
            <a:spAutoFit/>
          </a:bodyPr>
          <a:lstStyle/>
          <a:p>
            <a:pPr>
              <a:spcAft>
                <a:spcPts val="1200"/>
              </a:spcAft>
            </a:pPr>
            <a:r>
              <a:rPr sz="1500" b="0">
                <a:solidFill>
                  <a:srgbClr val="161B26"/>
                </a:solidFill>
                <a:latin typeface="Arial"/>
              </a:rPr>
              <a:t>•  A construction document set consists of sheets: View ▸ Sheet Composition ▸ Sheet.</a:t>
            </a:r>
          </a:p>
          <a:p>
            <a:pPr>
              <a:spcAft>
                <a:spcPts val="1200"/>
              </a:spcAft>
            </a:pPr>
            <a:r>
              <a:rPr sz="1500" b="0">
                <a:solidFill>
                  <a:srgbClr val="161B26"/>
                </a:solidFill>
                <a:latin typeface="Arial"/>
              </a:rPr>
              <a:t>•  Drag a view or schedule onto the sheet — it becomes a viewport within the title block.</a:t>
            </a:r>
          </a:p>
          <a:p>
            <a:pPr>
              <a:spcAft>
                <a:spcPts val="1200"/>
              </a:spcAft>
            </a:pPr>
            <a:r>
              <a:rPr sz="1500" b="0">
                <a:solidFill>
                  <a:srgbClr val="161B26"/>
                </a:solidFill>
                <a:latin typeface="Arial"/>
              </a:rPr>
              <a:t>•  Project templates capture sheet, view and family standards for future projects (File ▸ New ▸ Project template).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MAINTAIN THE DATABASE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Worksharing — One Central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0" y="1801367"/>
            <a:ext cx="4901184" cy="28225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30_img72.png"/>
          <p:cNvPicPr>
            <a:picLocks noChangeAspect="1"/>
          </p:cNvPicPr>
          <p:nvPr/>
        </p:nvPicPr>
        <p:blipFill>
          <a:blip r:embed="rId2"/>
          <a:stretch>
            <a:fillRect/>
          </a:stretch>
        </p:blipFill>
        <p:spPr>
          <a:xfrm>
            <a:off x="6656832" y="1874519"/>
            <a:ext cx="4754880" cy="2676280"/>
          </a:xfrm>
          <a:prstGeom prst="rect">
            <a:avLst/>
          </a:prstGeom>
        </p:spPr>
      </p:pic>
      <p:sp>
        <p:nvSpPr>
          <p:cNvPr id="9" name="TextBox 8"/>
          <p:cNvSpPr txBox="1"/>
          <p:nvPr/>
        </p:nvSpPr>
        <p:spPr>
          <a:xfrm>
            <a:off x="777240" y="1828800"/>
            <a:ext cx="5513832" cy="4297680"/>
          </a:xfrm>
          <a:prstGeom prst="rect">
            <a:avLst/>
          </a:prstGeom>
          <a:noFill/>
        </p:spPr>
        <p:txBody>
          <a:bodyPr wrap="square">
            <a:spAutoFit/>
          </a:bodyPr>
          <a:lstStyle/>
          <a:p>
            <a:pPr>
              <a:spcAft>
                <a:spcPts val="1200"/>
              </a:spcAft>
            </a:pPr>
            <a:r>
              <a:rPr sz="1500" b="0">
                <a:solidFill>
                  <a:srgbClr val="161B26"/>
                </a:solidFill>
                <a:latin typeface="Arial"/>
              </a:rPr>
              <a:t>•  Worksharing lets multiple team members work on the same project model at the same time, each on a functional area.</a:t>
            </a:r>
          </a:p>
          <a:p>
            <a:pPr>
              <a:spcAft>
                <a:spcPts val="1200"/>
              </a:spcAft>
            </a:pPr>
            <a:r>
              <a:rPr sz="1500" b="0">
                <a:solidFill>
                  <a:srgbClr val="161B26"/>
                </a:solidFill>
                <a:latin typeface="Arial"/>
              </a:rPr>
              <a:t>•  Enable it via Collaborate ▸ Worksets: default worksets are created, then Save As publishes the central model.</a:t>
            </a:r>
          </a:p>
          <a:p>
            <a:pPr>
              <a:spcAft>
                <a:spcPts val="1200"/>
              </a:spcAft>
            </a:pPr>
            <a:r>
              <a:rPr sz="1500" b="0">
                <a:solidFill>
                  <a:srgbClr val="161B26"/>
                </a:solidFill>
                <a:latin typeface="Arial"/>
              </a:rPr>
              <a:t>•  Team members edit local copies and synchronise with the central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MAINTAIN THE DATABASE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Phases and Design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766560" y="1801367"/>
            <a:ext cx="4718304" cy="31900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35_img73.png"/>
          <p:cNvPicPr>
            <a:picLocks noChangeAspect="1"/>
          </p:cNvPicPr>
          <p:nvPr/>
        </p:nvPicPr>
        <p:blipFill>
          <a:blip r:embed="rId2"/>
          <a:stretch>
            <a:fillRect/>
          </a:stretch>
        </p:blipFill>
        <p:spPr>
          <a:xfrm>
            <a:off x="6839712" y="1874519"/>
            <a:ext cx="4572000" cy="3043737"/>
          </a:xfrm>
          <a:prstGeom prst="rect">
            <a:avLst/>
          </a:prstGeom>
        </p:spPr>
      </p:pic>
      <p:sp>
        <p:nvSpPr>
          <p:cNvPr id="9" name="TextBox 8"/>
          <p:cNvSpPr txBox="1"/>
          <p:nvPr/>
        </p:nvSpPr>
        <p:spPr>
          <a:xfrm>
            <a:off x="777240" y="1828800"/>
            <a:ext cx="5696712" cy="4297680"/>
          </a:xfrm>
          <a:prstGeom prst="rect">
            <a:avLst/>
          </a:prstGeom>
          <a:noFill/>
        </p:spPr>
        <p:txBody>
          <a:bodyPr wrap="square">
            <a:spAutoFit/>
          </a:bodyPr>
          <a:lstStyle/>
          <a:p>
            <a:pPr>
              <a:spcAft>
                <a:spcPts val="1200"/>
              </a:spcAft>
            </a:pPr>
            <a:r>
              <a:rPr sz="1500" b="0">
                <a:solidFill>
                  <a:srgbClr val="161B26"/>
                </a:solidFill>
                <a:latin typeface="Arial"/>
              </a:rPr>
              <a:t>•  Phases track stages of work (Existing, New Construction, +custom): Manage ▸ Phasing ▸ Phases; insert before/after and rename.</a:t>
            </a:r>
          </a:p>
          <a:p>
            <a:pPr>
              <a:spcAft>
                <a:spcPts val="1200"/>
              </a:spcAft>
            </a:pPr>
            <a:r>
              <a:rPr sz="1500" b="0">
                <a:solidFill>
                  <a:srgbClr val="161B26"/>
                </a:solidFill>
                <a:latin typeface="Arial"/>
              </a:rPr>
              <a:t>•  Design options develop alternatives (entries, roofs, layouts) inside one project file while the team continues on the main model.</a:t>
            </a:r>
          </a:p>
          <a:p>
            <a:pPr>
              <a:spcAft>
                <a:spcPts val="1200"/>
              </a:spcAft>
            </a:pPr>
            <a:r>
              <a:rPr sz="1500" b="0">
                <a:solidFill>
                  <a:srgbClr val="161B26"/>
                </a:solidFill>
                <a:latin typeface="Arial"/>
              </a:rPr>
              <a:t>•  Options become more focused and simplified as the project progresses.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QUIZ</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Check Your Understanding — BIM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BIM Level 1</a:t>
            </a:r>
          </a:p>
          <a:p>
            <a:pPr algn="l">
              <a:spcAft>
                <a:spcPts val="300"/>
              </a:spcAft>
            </a:pPr>
            <a:r>
              <a:rPr sz="1100" b="0">
                <a:solidFill>
                  <a:srgbClr val="5B6372"/>
                </a:solidFill>
                <a:latin typeface="Arial"/>
              </a:rPr>
              <a:t>The level using 2D and 3D modeling where only CAD/PDF versions are shared with other stakeholders.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LOD specifications</a:t>
            </a:r>
          </a:p>
          <a:p>
            <a:pPr algn="l">
              <a:spcAft>
                <a:spcPts val="300"/>
              </a:spcAft>
            </a:pPr>
            <a:r>
              <a:rPr sz="1100" b="0">
                <a:solidFill>
                  <a:srgbClr val="5B6372"/>
                </a:solidFill>
                <a:latin typeface="Arial"/>
              </a:rPr>
              <a:t>Level of Development is defined at the BEGINNING of a project.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Record model</a:t>
            </a:r>
          </a:p>
          <a:p>
            <a:pPr algn="l">
              <a:spcAft>
                <a:spcPts val="300"/>
              </a:spcAft>
            </a:pPr>
            <a:r>
              <a:rPr sz="1100" b="0">
                <a:solidFill>
                  <a:srgbClr val="5B6372"/>
                </a:solidFill>
                <a:latin typeface="Arial"/>
              </a:rPr>
              <a:t>An accurate 3D representation of the physical, environmental and informational assets of a facility.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it's governed</a:t>
            </a:r>
          </a:p>
          <a:p>
            <a:pPr algn="l">
              <a:spcAft>
                <a:spcPts val="300"/>
              </a:spcAft>
            </a:pPr>
            <a:r>
              <a:rPr sz="1100" b="0">
                <a:solidFill>
                  <a:srgbClr val="5B6372"/>
                </a:solidFill>
                <a:latin typeface="Arial"/>
              </a:rPr>
              <a:t>The BEP + the agencies' e-submission Code of Practice.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BIM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Sheets, Worksharing and Linked Models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BIM e-Submission Standards Check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Sheets, Worksharing and Linked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Develop the construction documentation and maintain the shared model: compose a drawing sheet with a title block and viewports, add a callout and a section view, link a CAD file, enable worksharing to create a central model with worksets, and organise the project into phases.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titled drawing sheet carrying plan + section + callout viewports, a workshared central model with worksets, and a phased project.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your course model, a DWG file (LMS lab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Sheets, Worksharing and Linked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 sheet with a title block and drag the Level 1 plan and a schedule from the Project Browser onto it — each becomes a viewport.</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View ▸ Sheet Composition ▸ Sheet</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Add a Section through the building and a Callout of the stair area in the plan view; open both views from their heads and place them on the sheet.</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View ▸ Create ▸ Section / Callout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Sheets, Worksharing and Linked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Link a CAD file (e.g. a surveyor's DWG) into a site view, then compare Insert ▸ Link CAD (stays external, updates) with Insert ▸ Import CAD (embedded).</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Insert ▸ Link ▸ Link CAD</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Enable worksharing: open Worksets — accept the default worksets to create the central model, then Save As the central file so team members can make local copies.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Collaborate ▸ Manage Collaboration ▸ Worksets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Sheets, Worksharing and Linked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 phase: open Manage ▸ Phases, insert a phase after New Construction, and assign an element to it; set a view's Phase and Phase Filter to see the effect.</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Manage ▸ Phasing ▸ Phases</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Create a design option set for an entry alternative: Manage ▸ Design Options ▸ New, add a second option, and place variant geometry in each option.</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Manage ▸ Design Options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Sheets, Worksharing and Linked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sheet shows plan, section and callout viewports under a filled title block; the file is now a central model whose Worksets dialog lists your worksets; the phase filter hides/shows the phased element; and switching design options swaps the entry geometry — one database, fully documented.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e-Submission Standards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Prepare a model for Singapore BCA BIM e-submission: apply the standard file and view naming formats, verify geo-referencing (SVY21 / SHD) and 1:1 metric scale, check the last-saved views, and assemble the submission cover page with the core information required by the regulatory agencies.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submission-ready model: compliant file/view names, correct coordinates and scale, purged views and a complete cover page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Autodesk Revit, your course model, BCA Code of Practice for BIM e-Submission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e-Submission Standards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1</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Rename the model file to the 6-field e-submission format (project, originator, zone, level, type, discipline) and rename key views to the 3–4 field view naming format (e.g. A_1st Storey).</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File naming: &lt;Project&gt;-&lt;Originator&gt;-&lt;Zone&gt;-&lt;Level&gt;-&lt;Type&gt;-&lt;Discipline&gt;</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2</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Verify the site model is geo-referenced to SVY21 for Easting/Northing and to Singapore Height Datum (SHD 0.000 m) for elevation, with the layout in True North orientation.</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Manage ▸ Coordinates / Position ▸ True North</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e-Submission Standards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3</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Confirm the model is built full-size 1:1 metric, and that no 2D view generated from it uses an odd drawing scale.</a:t>
            </a:r>
          </a:p>
        </p:txBody>
      </p:sp>
      <p:sp>
        <p:nvSpPr>
          <p:cNvPr id="12" name="Rectangle 11"/>
          <p:cNvSpPr/>
          <p:nvPr/>
        </p:nvSpPr>
        <p:spPr>
          <a:xfrm>
            <a:off x="2148840" y="3246120"/>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273552"/>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Properties ▸ View Scale</a:t>
            </a:r>
          </a:p>
        </p:txBody>
      </p:sp>
      <p:sp>
        <p:nvSpPr>
          <p:cNvPr id="14" name="Rectangle 13"/>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4</a:t>
            </a:r>
          </a:p>
        </p:txBody>
      </p:sp>
      <p:sp>
        <p:nvSpPr>
          <p:cNvPr id="17" name="TextBox 16"/>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8" name="TextBox 17"/>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Check every last-saved view: maximum extent saved, no hidden objects or annotations, all external files loadable, irrelevant layers/drafting purged, no proprietary fonts.</a:t>
            </a:r>
          </a:p>
        </p:txBody>
      </p:sp>
      <p:sp>
        <p:nvSpPr>
          <p:cNvPr id="19" name="Rectangle 18"/>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Manage ▸ Purge Unused · VG ▸ Reveal Hidden Elements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STEP-BY-STEP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e-Submission Standards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057400"/>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5</a:t>
            </a:r>
          </a:p>
        </p:txBody>
      </p:sp>
      <p:sp>
        <p:nvSpPr>
          <p:cNvPr id="10" name="TextBox 9"/>
          <p:cNvSpPr txBox="1"/>
          <p:nvPr/>
        </p:nvSpPr>
        <p:spPr>
          <a:xfrm>
            <a:off x="1024128" y="3017520"/>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1" name="TextBox 10"/>
          <p:cNvSpPr txBox="1"/>
          <p:nvPr/>
        </p:nvSpPr>
        <p:spPr>
          <a:xfrm>
            <a:off x="2148840" y="1947672"/>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Apply the colour standards for amendments and A&amp;A works where the submission includes changes to approved plans.</a:t>
            </a:r>
          </a:p>
        </p:txBody>
      </p:sp>
      <p:sp>
        <p:nvSpPr>
          <p:cNvPr id="12" name="Rectangle 11"/>
          <p:cNvSpPr/>
          <p:nvPr/>
        </p:nvSpPr>
        <p:spPr>
          <a:xfrm>
            <a:off x="777240" y="3977639"/>
            <a:ext cx="10634472" cy="2011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840" y="4251959"/>
            <a:ext cx="868680" cy="8686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51959"/>
            <a:ext cx="868680" cy="868680"/>
          </a:xfrm>
          <a:prstGeom prst="rect">
            <a:avLst/>
          </a:prstGeom>
          <a:noFill/>
        </p:spPr>
        <p:txBody>
          <a:bodyPr wrap="square" anchor="ctr">
            <a:spAutoFit/>
          </a:bodyPr>
          <a:lstStyle/>
          <a:p>
            <a:pPr algn="ctr">
              <a:spcAft>
                <a:spcPts val="400"/>
              </a:spcAft>
            </a:pPr>
            <a:r>
              <a:rPr sz="2600" b="1">
                <a:solidFill>
                  <a:srgbClr val="FFFFFF"/>
                </a:solidFill>
                <a:latin typeface="Arial"/>
              </a:rPr>
              <a:t>6</a:t>
            </a:r>
          </a:p>
        </p:txBody>
      </p:sp>
      <p:sp>
        <p:nvSpPr>
          <p:cNvPr id="15" name="TextBox 14"/>
          <p:cNvSpPr txBox="1"/>
          <p:nvPr/>
        </p:nvSpPr>
        <p:spPr>
          <a:xfrm>
            <a:off x="1024128" y="5212079"/>
            <a:ext cx="914400" cy="320040"/>
          </a:xfrm>
          <a:prstGeom prst="rect">
            <a:avLst/>
          </a:prstGeom>
          <a:noFill/>
        </p:spPr>
        <p:txBody>
          <a:bodyPr wrap="square" anchor="t">
            <a:spAutoFit/>
          </a:bodyPr>
          <a:lstStyle/>
          <a:p>
            <a:pPr algn="ctr">
              <a:spcAft>
                <a:spcPts val="400"/>
              </a:spcAft>
            </a:pPr>
            <a:r>
              <a:rPr sz="1000" b="1">
                <a:solidFill>
                  <a:srgbClr val="5B6372"/>
                </a:solidFill>
                <a:latin typeface="Arial"/>
              </a:rPr>
              <a:t>of 6</a:t>
            </a:r>
          </a:p>
        </p:txBody>
      </p:sp>
      <p:sp>
        <p:nvSpPr>
          <p:cNvPr id="16" name="TextBox 15"/>
          <p:cNvSpPr txBox="1"/>
          <p:nvPr/>
        </p:nvSpPr>
        <p:spPr>
          <a:xfrm>
            <a:off x="2148840" y="4142231"/>
            <a:ext cx="9052560" cy="1188720"/>
          </a:xfrm>
          <a:prstGeom prst="rect">
            <a:avLst/>
          </a:prstGeom>
          <a:noFill/>
        </p:spPr>
        <p:txBody>
          <a:bodyPr wrap="square" anchor="t">
            <a:spAutoFit/>
          </a:bodyPr>
          <a:lstStyle/>
          <a:p>
            <a:pPr algn="l">
              <a:spcAft>
                <a:spcPts val="400"/>
              </a:spcAft>
            </a:pPr>
            <a:r>
              <a:rPr sz="1400" b="0">
                <a:solidFill>
                  <a:srgbClr val="161B26"/>
                </a:solidFill>
                <a:latin typeface="Arial"/>
              </a:rPr>
              <a:t>Assemble the cover page: submission authority and QP's declaration/endorsements, project information, and the list of views, schedules and sheets for approval, with the agency's minimal Core Information.</a:t>
            </a:r>
          </a:p>
        </p:txBody>
      </p:sp>
      <p:sp>
        <p:nvSpPr>
          <p:cNvPr id="17" name="Rectangle 16"/>
          <p:cNvSpPr/>
          <p:nvPr/>
        </p:nvSpPr>
        <p:spPr>
          <a:xfrm>
            <a:off x="2148840" y="5440679"/>
            <a:ext cx="9052560" cy="43891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31720" y="5468111"/>
            <a:ext cx="8732520" cy="384048"/>
          </a:xfrm>
          <a:prstGeom prst="rect">
            <a:avLst/>
          </a:prstGeom>
          <a:noFill/>
        </p:spPr>
        <p:txBody>
          <a:bodyPr wrap="square" anchor="ctr">
            <a:spAutoFit/>
          </a:bodyPr>
          <a:lstStyle/>
          <a:p>
            <a:pPr algn="l">
              <a:spcAft>
                <a:spcPts val="400"/>
              </a:spcAft>
            </a:pPr>
            <a:r>
              <a:rPr sz="1100" b="0">
                <a:solidFill>
                  <a:srgbClr val="9CDCFE"/>
                </a:solidFill>
                <a:latin typeface="Arial"/>
              </a:rPr>
              <a:t>Sheet: Cover Page ▸ QP declaration · Project info · View list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BIM e-Submission Standards Check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Walking the e-submission checklist end-to-end passes: compliant file and view names, SVY21/SHD coordinates, 1:1 metric scale, clean last-saved views with nothing hidden or missing, correct amendment colours, and a cover page carrying the declaration, project information and view list — the model is ready for regulatory e-submission.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BIM Documentation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LO4 — Maintain BIM database and develop BIM documentation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Applied Revit for BIM</a:t>
            </a:r>
          </a:p>
          <a:p>
            <a:pPr algn="l">
              <a:spcAft>
                <a:spcPts val="300"/>
              </a:spcAft>
            </a:pPr>
            <a:r>
              <a:rPr sz="1200" b="0">
                <a:solidFill>
                  <a:srgbClr val="5B6372"/>
                </a:solidFill>
                <a:latin typeface="Arial"/>
              </a:rPr>
              <a:t>Navigated the Revit BIM environment and turned 2D information into an intelligent 3D model (LO1).</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Developed &amp; integrated models</a:t>
            </a:r>
          </a:p>
          <a:p>
            <a:pPr algn="l">
              <a:spcAft>
                <a:spcPts val="300"/>
              </a:spcAft>
            </a:pPr>
            <a:r>
              <a:rPr sz="1200" b="0">
                <a:solidFill>
                  <a:srgbClr val="5B6372"/>
                </a:solidFill>
                <a:latin typeface="Arial"/>
              </a:rPr>
              <a:t>Modelled walls, floors, roofs, stairs, structure, site and masses — with families and materials (LO2).</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Applied BIM &amp; checked output</a:t>
            </a:r>
          </a:p>
          <a:p>
            <a:pPr algn="l">
              <a:spcAft>
                <a:spcPts val="300"/>
              </a:spcAft>
            </a:pPr>
            <a:r>
              <a:rPr sz="1200" b="0">
                <a:solidFill>
                  <a:srgbClr val="5B6372"/>
                </a:solidFill>
                <a:latin typeface="Arial"/>
              </a:rPr>
              <a:t>Built schedules and takeoffs, ran energy analysis and interference checks on the model (LO3).</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Maintained database &amp; documentation</a:t>
            </a:r>
          </a:p>
          <a:p>
            <a:pPr algn="l">
              <a:spcAft>
                <a:spcPts val="300"/>
              </a:spcAft>
            </a:pPr>
            <a:r>
              <a:rPr sz="1200" b="0">
                <a:solidFill>
                  <a:srgbClr val="5B6372"/>
                </a:solidFill>
                <a:latin typeface="Arial"/>
              </a:rPr>
              <a:t>Workshared a central model, produced sheets, and met BCA e-submission standards (LO4).</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 · lms-tms.tertiaryinfotech.com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Certificate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0" y="1801367"/>
            <a:ext cx="4901184" cy="188053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84_img96.png"/>
          <p:cNvPicPr>
            <a:picLocks noChangeAspect="1"/>
          </p:cNvPicPr>
          <p:nvPr/>
        </p:nvPicPr>
        <p:blipFill>
          <a:blip r:embed="rId2"/>
          <a:stretch>
            <a:fillRect/>
          </a:stretch>
        </p:blipFill>
        <p:spPr>
          <a:xfrm>
            <a:off x="6656832" y="1874519"/>
            <a:ext cx="4754880" cy="1734233"/>
          </a:xfrm>
          <a:prstGeom prst="rect">
            <a:avLst/>
          </a:prstGeom>
        </p:spPr>
      </p:pic>
      <p:sp>
        <p:nvSpPr>
          <p:cNvPr id="9" name="TextBox 8"/>
          <p:cNvSpPr txBox="1"/>
          <p:nvPr/>
        </p:nvSpPr>
        <p:spPr>
          <a:xfrm>
            <a:off x="777240" y="1828800"/>
            <a:ext cx="5513832" cy="4297680"/>
          </a:xfrm>
          <a:prstGeom prst="rect">
            <a:avLst/>
          </a:prstGeom>
          <a:noFill/>
        </p:spPr>
        <p:txBody>
          <a:bodyPr wrap="square">
            <a:spAutoFit/>
          </a:bodyPr>
          <a:lstStyle/>
          <a:p>
            <a:pPr>
              <a:spcAft>
                <a:spcPts val="1200"/>
              </a:spcAft>
            </a:pPr>
            <a:r>
              <a:rPr sz="1500" b="0">
                <a:solidFill>
                  <a:srgbClr val="161B26"/>
                </a:solidFill>
                <a:latin typeface="Arial"/>
              </a:rPr>
              <a:t>•  Complete the TRAQOM course-quality survey on the LMS — it is mandatory for WSQ funding.</a:t>
            </a:r>
          </a:p>
          <a:p>
            <a:pPr>
              <a:spcAft>
                <a:spcPts val="1200"/>
              </a:spcAft>
            </a:pPr>
            <a:r>
              <a:rPr sz="1500" b="0">
                <a:solidFill>
                  <a:srgbClr val="161B26"/>
                </a:solidFill>
                <a:latin typeface="Arial"/>
              </a:rPr>
              <a:t>•  Your WSQ Statement of Attainment (SOA) is issued after you are assessed as Competent.</a:t>
            </a:r>
          </a:p>
          <a:p>
            <a:pPr>
              <a:spcAft>
                <a:spcPts val="1200"/>
              </a:spcAft>
            </a:pPr>
            <a:r>
              <a:rPr sz="1500" b="0">
                <a:solidFill>
                  <a:srgbClr val="161B26"/>
                </a:solidFill>
                <a:latin typeface="Arial"/>
              </a:rPr>
              <a:t>•  Download your certificate of completion from the LMS portal.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KEEP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Recommended Next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WSQ - Technical Drawing with AutoCAD</a:t>
            </a:r>
          </a:p>
          <a:p>
            <a:pPr algn="l">
              <a:spcAft>
                <a:spcPts val="300"/>
              </a:spcAft>
            </a:pPr>
            <a:r>
              <a:rPr sz="1100" b="0">
                <a:solidFill>
                  <a:srgbClr val="5B6372"/>
                </a:solidFill>
                <a:latin typeface="Arial"/>
              </a:rPr>
              <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WSQ - Architecture Drawing with Revit</a:t>
            </a:r>
          </a:p>
          <a:p>
            <a:pPr algn="l">
              <a:spcAft>
                <a:spcPts val="300"/>
              </a:spcAft>
            </a:pPr>
            <a:r>
              <a:rPr sz="1100" b="0">
                <a:solidFill>
                  <a:srgbClr val="5B6372"/>
                </a:solidFill>
                <a:latin typeface="Arial"/>
              </a:rPr>
              <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WSQ - Product Design with Fusion 360</a:t>
            </a:r>
          </a:p>
          <a:p>
            <a:pPr algn="l">
              <a:spcAft>
                <a:spcPts val="300"/>
              </a:spcAft>
            </a:pPr>
            <a:r>
              <a:rPr sz="1100" b="0">
                <a:solidFill>
                  <a:srgbClr val="5B6372"/>
                </a:solidFill>
                <a:latin typeface="Arial"/>
              </a:rPr>
              <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WSQ - AutoCAD Civil 3D for Infrastructure Design</a:t>
            </a:r>
          </a:p>
          <a:p>
            <a:pPr algn="l">
              <a:spcAft>
                <a:spcPts val="300"/>
              </a:spcAft>
            </a:pPr>
            <a:r>
              <a:rPr sz="1100" b="0">
                <a:solidFill>
                  <a:srgbClr val="5B6372"/>
                </a:solidFill>
                <a:latin typeface="Arial"/>
              </a:rPr>
              <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WSQ - Product Design with Autodesk Inventor</a:t>
            </a:r>
          </a:p>
          <a:p>
            <a:pPr algn="l">
              <a:spcAft>
                <a:spcPts val="300"/>
              </a:spcAft>
            </a:pPr>
            <a:r>
              <a:rPr sz="1100" b="0">
                <a:solidFill>
                  <a:srgbClr val="5B6372"/>
                </a:solidFill>
                <a:latin typeface="Arial"/>
              </a:rPr>
              <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Browse all courses</a:t>
            </a:r>
          </a:p>
          <a:p>
            <a:pPr algn="l">
              <a:spcAft>
                <a:spcPts val="300"/>
              </a:spcAft>
            </a:pPr>
            <a:r>
              <a:rPr sz="1100" b="0">
                <a:solidFill>
                  <a:srgbClr val="5B6372"/>
                </a:solidFill>
                <a:latin typeface="Arial"/>
              </a:rPr>
              <a:t>www.tertiarycourses.com.sg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and after the class, contact us:</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a:t>
            </a:r>
          </a:p>
          <a:p>
            <a:pPr>
              <a:spcAft>
                <a:spcPts val="1000"/>
              </a:spcAft>
            </a:pPr>
            <a:r>
              <a:rPr sz="2000" b="0">
                <a:solidFill>
                  <a:srgbClr val="161B26"/>
                </a:solidFill>
                <a:latin typeface="Arial"/>
              </a:rPr>
              <a:t>•  Website: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hands-on Revit modeling tasks, 1.5 hours, open book.</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1 hr) then PP (1.5 hrs)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MODELLING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are now ready to apply, model, manage and document BIM projects with Autodesk Revit.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Application of BIM using Revit  ·  TGS-2022015370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pic>
        <p:nvPicPr>
          <p:cNvPr id="13" name="Picture 12" descr="ref_login.png"/>
          <p:cNvPicPr>
            <a:picLocks noChangeAspect="1"/>
          </p:cNvPicPr>
          <p:nvPr/>
        </p:nvPicPr>
        <p:blipFill>
          <a:blip r:embed="rId3"/>
          <a:stretch>
            <a:fillRect/>
          </a:stretch>
        </p:blipFill>
        <p:spPr>
          <a:xfrm>
            <a:off x="2112004" y="1851660"/>
            <a:ext cx="7967686" cy="3963924"/>
          </a:xfrm>
          <a:prstGeom prst="rect">
            <a:avLst/>
          </a:prstGeom>
          <a:ln w="12700">
            <a:solidFill>
              <a:srgbClr val="E2E8F0"/>
            </a:solidFill>
          </a:ln>
        </p:spPr>
      </p:pic>
      <p:sp>
        <p:nvSpPr>
          <p:cNvPr id="14" name="TextBox 13"/>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